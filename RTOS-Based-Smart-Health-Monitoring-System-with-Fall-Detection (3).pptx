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DM Sans Medium" pitchFamily="2" charset="0"/>
      <p:regular r:id="rId13"/>
      <p:italic r:id="rId14"/>
    </p:embeddedFont>
    <p:embeddedFont>
      <p:font typeface="Inter" panose="020B0604020202020204" charset="0"/>
      <p:regular r:id="rId15"/>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77" d="100"/>
          <a:sy n="77" d="100"/>
        </p:scale>
        <p:origin x="200" y="6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18" Type="http://schemas.openxmlformats.org/officeDocument/2006/relationships/theme" Target="theme/theme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font" Target="fonts/font3.fntdata"/><Relationship Id="rId10" Type="http://schemas.openxmlformats.org/officeDocument/2006/relationships/slide" Target="slides/slide9.xml"/><Relationship Id="rId19"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2.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24767731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preserve="1">
  <p:cSld name="DEFAULT">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E6E2DB"/>
          </a:solidFill>
          <a:ln/>
        </p:spPr>
      </p:sp>
      <p:sp>
        <p:nvSpPr>
          <p:cNvPr id="3" name="Shape 1"/>
          <p:cNvSpPr/>
          <p:nvPr/>
        </p:nvSpPr>
        <p:spPr>
          <a:xfrm>
            <a:off x="0" y="0"/>
            <a:ext cx="14630400" cy="8229600"/>
          </a:xfrm>
          <a:prstGeom prst="rect">
            <a:avLst/>
          </a:prstGeom>
          <a:solidFill>
            <a:srgbClr val="F9F8F5"/>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3" Type="http://schemas.openxmlformats.org/officeDocument/2006/relationships/image" Target="../media/image2.svg"/><Relationship Id="rId7" Type="http://schemas.openxmlformats.org/officeDocument/2006/relationships/image" Target="../media/image6.sv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5.svg"/><Relationship Id="rId5" Type="http://schemas.openxmlformats.org/officeDocument/2006/relationships/image" Target="../media/image4.svg"/><Relationship Id="rId4" Type="http://schemas.openxmlformats.org/officeDocument/2006/relationships/image" Target="../media/image3.sv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8.xml"/><Relationship Id="rId6" Type="http://schemas.openxmlformats.org/officeDocument/2006/relationships/image" Target="../media/image10.png"/><Relationship Id="rId5" Type="http://schemas.openxmlformats.org/officeDocument/2006/relationships/image" Target="../media/image9.pn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9.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slide1.xml><?xml version="1.0" encoding="utf-8"?>
<p:sld xmlns:a="http://schemas.openxmlformats.org/drawingml/2006/main" xmlns:r="http://schemas.openxmlformats.org/officeDocument/2006/relationships" xmlns:p="http://schemas.openxmlformats.org/presentationml/2006/main" showMasterSp="0">
  <p:cSld name="Slide 1">
    <p:spTree>
      <p:nvGrpSpPr>
        <p:cNvPr id="1" name=""/>
        <p:cNvGrpSpPr/>
        <p:nvPr/>
      </p:nvGrpSpPr>
      <p:grpSpPr>
        <a:xfrm>
          <a:off x="0" y="0"/>
          <a:ext cx="0" cy="0"/>
          <a:chOff x="0" y="0"/>
          <a:chExt cx="0" cy="0"/>
        </a:xfrm>
      </p:grpSpPr>
      <p:sp>
        <p:nvSpPr>
          <p:cNvPr id="2" name="Text 0"/>
          <p:cNvSpPr/>
          <p:nvPr/>
        </p:nvSpPr>
        <p:spPr>
          <a:xfrm>
            <a:off x="793790" y="2436376"/>
            <a:ext cx="13042821" cy="1417558"/>
          </a:xfrm>
          <a:prstGeom prst="rect">
            <a:avLst/>
          </a:prstGeom>
          <a:noFill/>
          <a:ln/>
        </p:spPr>
        <p:txBody>
          <a:bodyPr wrap="square" lIns="0" tIns="0" rIns="0" bIns="0" rtlCol="0" anchor="t"/>
          <a:lstStyle/>
          <a:p>
            <a:pPr marL="0" indent="0" algn="l">
              <a:lnSpc>
                <a:spcPts val="5550"/>
              </a:lnSpc>
              <a:buNone/>
            </a:pPr>
            <a:r>
              <a:rPr lang="en-US" sz="4450" dirty="0">
                <a:solidFill>
                  <a:srgbClr val="161613"/>
                </a:solidFill>
                <a:latin typeface="Aptos" panose="020B0004020202020204" pitchFamily="34" charset="0"/>
                <a:ea typeface="DM Sans Medium" pitchFamily="34" charset="-122"/>
                <a:cs typeface="DM Sans Medium" pitchFamily="34" charset="-120"/>
              </a:rPr>
              <a:t>RTOS-Based Smart Health Monitoring System with Fall Detection</a:t>
            </a:r>
            <a:endParaRPr lang="en-US" sz="4450" dirty="0">
              <a:latin typeface="Aptos" panose="020B0004020202020204" pitchFamily="34" charset="0"/>
            </a:endParaRPr>
          </a:p>
        </p:txBody>
      </p:sp>
      <p:sp>
        <p:nvSpPr>
          <p:cNvPr id="3" name="Text 1"/>
          <p:cNvSpPr/>
          <p:nvPr/>
        </p:nvSpPr>
        <p:spPr>
          <a:xfrm>
            <a:off x="793790" y="4194096"/>
            <a:ext cx="13042821" cy="362903"/>
          </a:xfrm>
          <a:prstGeom prst="rect">
            <a:avLst/>
          </a:prstGeom>
          <a:noFill/>
          <a:ln/>
        </p:spPr>
        <p:txBody>
          <a:bodyPr wrap="none" lIns="0" tIns="0" rIns="0" bIns="0" rtlCol="0" anchor="t"/>
          <a:lstStyle/>
          <a:p>
            <a:pPr marL="0" indent="0" algn="l">
              <a:lnSpc>
                <a:spcPts val="2850"/>
              </a:lnSpc>
              <a:buNone/>
            </a:pPr>
            <a:r>
              <a:rPr lang="en-US" sz="1750" b="1" dirty="0">
                <a:solidFill>
                  <a:srgbClr val="161613"/>
                </a:solidFill>
                <a:latin typeface="Aptos" panose="020B0004020202020204" pitchFamily="34" charset="0"/>
                <a:ea typeface="Inter" pitchFamily="34" charset="-122"/>
                <a:cs typeface="Inter" pitchFamily="34" charset="-120"/>
              </a:rPr>
              <a:t>Name:</a:t>
            </a:r>
            <a:r>
              <a:rPr lang="en-US" sz="1750" dirty="0">
                <a:solidFill>
                  <a:srgbClr val="161613"/>
                </a:solidFill>
                <a:latin typeface="Aptos" panose="020B0004020202020204" pitchFamily="34" charset="0"/>
                <a:ea typeface="Inter" pitchFamily="34" charset="-122"/>
                <a:cs typeface="Inter" pitchFamily="34" charset="-120"/>
              </a:rPr>
              <a:t> Himani Deore</a:t>
            </a:r>
            <a:endParaRPr lang="en-US" sz="1750" dirty="0">
              <a:latin typeface="Aptos" panose="020B0004020202020204" pitchFamily="34" charset="0"/>
            </a:endParaRPr>
          </a:p>
        </p:txBody>
      </p:sp>
      <p:sp>
        <p:nvSpPr>
          <p:cNvPr id="4" name="Text 2"/>
          <p:cNvSpPr/>
          <p:nvPr/>
        </p:nvSpPr>
        <p:spPr>
          <a:xfrm>
            <a:off x="793790" y="4812149"/>
            <a:ext cx="13042821" cy="362903"/>
          </a:xfrm>
          <a:prstGeom prst="rect">
            <a:avLst/>
          </a:prstGeom>
          <a:noFill/>
          <a:ln/>
        </p:spPr>
        <p:txBody>
          <a:bodyPr wrap="none" lIns="0" tIns="0" rIns="0" bIns="0" rtlCol="0" anchor="t"/>
          <a:lstStyle/>
          <a:p>
            <a:pPr marL="0" indent="0" algn="l">
              <a:lnSpc>
                <a:spcPts val="2850"/>
              </a:lnSpc>
              <a:buNone/>
            </a:pPr>
            <a:r>
              <a:rPr lang="en-US" sz="1750" b="1" dirty="0">
                <a:solidFill>
                  <a:srgbClr val="161613"/>
                </a:solidFill>
                <a:latin typeface="Aptos" panose="020B0004020202020204" pitchFamily="34" charset="0"/>
                <a:ea typeface="Inter" pitchFamily="34" charset="-122"/>
                <a:cs typeface="Inter" pitchFamily="34" charset="-120"/>
              </a:rPr>
              <a:t>Roll No:</a:t>
            </a:r>
            <a:r>
              <a:rPr lang="en-US" sz="1750" dirty="0">
                <a:solidFill>
                  <a:srgbClr val="161613"/>
                </a:solidFill>
                <a:latin typeface="Aptos" panose="020B0004020202020204" pitchFamily="34" charset="0"/>
                <a:ea typeface="Inter" pitchFamily="34" charset="-122"/>
                <a:cs typeface="Inter" pitchFamily="34" charset="-120"/>
              </a:rPr>
              <a:t> 312044 | </a:t>
            </a:r>
            <a:r>
              <a:rPr lang="en-US" sz="1750" b="1" dirty="0">
                <a:solidFill>
                  <a:srgbClr val="161613"/>
                </a:solidFill>
                <a:latin typeface="Aptos" panose="020B0004020202020204" pitchFamily="34" charset="0"/>
                <a:ea typeface="Inter" pitchFamily="34" charset="-122"/>
                <a:cs typeface="Inter" pitchFamily="34" charset="-120"/>
              </a:rPr>
              <a:t>PRN:</a:t>
            </a:r>
            <a:r>
              <a:rPr lang="en-US" sz="1750" dirty="0">
                <a:solidFill>
                  <a:srgbClr val="161613"/>
                </a:solidFill>
                <a:latin typeface="Aptos" panose="020B0004020202020204" pitchFamily="34" charset="0"/>
                <a:ea typeface="Inter" pitchFamily="34" charset="-122"/>
                <a:cs typeface="Inter" pitchFamily="34" charset="-120"/>
              </a:rPr>
              <a:t> 22311497</a:t>
            </a:r>
            <a:endParaRPr lang="en-US" sz="1750" dirty="0">
              <a:latin typeface="Aptos" panose="020B0004020202020204" pitchFamily="34" charset="0"/>
            </a:endParaRPr>
          </a:p>
        </p:txBody>
      </p:sp>
      <p:sp>
        <p:nvSpPr>
          <p:cNvPr id="5" name="Text 3"/>
          <p:cNvSpPr/>
          <p:nvPr/>
        </p:nvSpPr>
        <p:spPr>
          <a:xfrm>
            <a:off x="793790" y="5430203"/>
            <a:ext cx="13042821" cy="362903"/>
          </a:xfrm>
          <a:prstGeom prst="rect">
            <a:avLst/>
          </a:prstGeom>
          <a:noFill/>
          <a:ln/>
        </p:spPr>
        <p:txBody>
          <a:bodyPr wrap="none" lIns="0" tIns="0" rIns="0" bIns="0" rtlCol="0" anchor="t"/>
          <a:lstStyle/>
          <a:p>
            <a:pPr marL="0" indent="0" algn="l">
              <a:lnSpc>
                <a:spcPts val="2850"/>
              </a:lnSpc>
              <a:buNone/>
            </a:pPr>
            <a:r>
              <a:rPr lang="en-US" sz="1750" b="1" dirty="0">
                <a:solidFill>
                  <a:srgbClr val="161613"/>
                </a:solidFill>
                <a:latin typeface="Aptos" panose="020B0004020202020204" pitchFamily="34" charset="0"/>
                <a:ea typeface="Inter" pitchFamily="34" charset="-122"/>
                <a:cs typeface="Inter" pitchFamily="34" charset="-120"/>
              </a:rPr>
              <a:t>Class:</a:t>
            </a:r>
            <a:r>
              <a:rPr lang="en-US" sz="1750" dirty="0">
                <a:solidFill>
                  <a:srgbClr val="161613"/>
                </a:solidFill>
                <a:latin typeface="Aptos" panose="020B0004020202020204" pitchFamily="34" charset="0"/>
                <a:ea typeface="Inter" pitchFamily="34" charset="-122"/>
                <a:cs typeface="Inter" pitchFamily="34" charset="-120"/>
              </a:rPr>
              <a:t> TY B ENTC</a:t>
            </a:r>
            <a:endParaRPr lang="en-US" sz="1750" dirty="0">
              <a:latin typeface="Aptos" panose="020B0004020202020204" pitchFamily="34" charset="0"/>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showMasterSp="0">
  <p:cSld name="Slide 2">
    <p:spTree>
      <p:nvGrpSpPr>
        <p:cNvPr id="1" name=""/>
        <p:cNvGrpSpPr/>
        <p:nvPr/>
      </p:nvGrpSpPr>
      <p:grpSpPr>
        <a:xfrm>
          <a:off x="0" y="0"/>
          <a:ext cx="0" cy="0"/>
          <a:chOff x="0" y="0"/>
          <a:chExt cx="0" cy="0"/>
        </a:xfrm>
      </p:grpSpPr>
      <p:sp>
        <p:nvSpPr>
          <p:cNvPr id="2" name="Text 0"/>
          <p:cNvSpPr/>
          <p:nvPr/>
        </p:nvSpPr>
        <p:spPr>
          <a:xfrm>
            <a:off x="756642" y="671632"/>
            <a:ext cx="5404842" cy="675680"/>
          </a:xfrm>
          <a:prstGeom prst="rect">
            <a:avLst/>
          </a:prstGeom>
          <a:noFill/>
          <a:ln/>
        </p:spPr>
        <p:txBody>
          <a:bodyPr wrap="none" lIns="0" tIns="0" rIns="0" bIns="0" rtlCol="0" anchor="t"/>
          <a:lstStyle/>
          <a:p>
            <a:pPr marL="0" indent="0" algn="l">
              <a:lnSpc>
                <a:spcPts val="5300"/>
              </a:lnSpc>
              <a:buNone/>
            </a:pPr>
            <a:r>
              <a:rPr lang="en-US" sz="4250" dirty="0">
                <a:solidFill>
                  <a:srgbClr val="161613"/>
                </a:solidFill>
                <a:latin typeface="Aptos" panose="020B0004020202020204" pitchFamily="34" charset="0"/>
                <a:ea typeface="DM Sans Medium" pitchFamily="34" charset="-122"/>
                <a:cs typeface="DM Sans Medium" pitchFamily="34" charset="-120"/>
              </a:rPr>
              <a:t>Project Abstract</a:t>
            </a:r>
            <a:endParaRPr lang="en-US" sz="4250" dirty="0">
              <a:latin typeface="Aptos" panose="020B0004020202020204" pitchFamily="34" charset="0"/>
            </a:endParaRPr>
          </a:p>
        </p:txBody>
      </p:sp>
      <p:sp>
        <p:nvSpPr>
          <p:cNvPr id="3" name="Text 1"/>
          <p:cNvSpPr/>
          <p:nvPr/>
        </p:nvSpPr>
        <p:spPr>
          <a:xfrm>
            <a:off x="756642" y="1841778"/>
            <a:ext cx="6294834" cy="2026682"/>
          </a:xfrm>
          <a:prstGeom prst="rect">
            <a:avLst/>
          </a:prstGeom>
          <a:noFill/>
          <a:ln/>
        </p:spPr>
        <p:txBody>
          <a:bodyPr wrap="square" lIns="0" tIns="0" rIns="0" bIns="0" rtlCol="0" anchor="t"/>
          <a:lstStyle/>
          <a:p>
            <a:pPr marL="0" indent="0" algn="l">
              <a:lnSpc>
                <a:spcPts val="2650"/>
              </a:lnSpc>
              <a:buNone/>
            </a:pPr>
            <a:r>
              <a:rPr lang="en-US" sz="1700" dirty="0">
                <a:solidFill>
                  <a:srgbClr val="161613"/>
                </a:solidFill>
                <a:latin typeface="Aptos" panose="020B0004020202020204" pitchFamily="34" charset="0"/>
                <a:ea typeface="Inter" pitchFamily="34" charset="-122"/>
                <a:cs typeface="Inter" pitchFamily="34" charset="-120"/>
              </a:rPr>
              <a:t>In health monitoring systems, it is important to continuously track vital parameters such as heart rate and oxygen saturation, and detect emergency conditions like falls. However, many basic embedded systems are not able to handle multiple operations simultaneously, leading to delayed response and unreliable monitoring.</a:t>
            </a:r>
            <a:endParaRPr lang="en-US" sz="1700" dirty="0">
              <a:latin typeface="Aptos" panose="020B0004020202020204" pitchFamily="34" charset="0"/>
            </a:endParaRPr>
          </a:p>
        </p:txBody>
      </p:sp>
      <p:sp>
        <p:nvSpPr>
          <p:cNvPr id="4" name="Text 2"/>
          <p:cNvSpPr/>
          <p:nvPr/>
        </p:nvSpPr>
        <p:spPr>
          <a:xfrm>
            <a:off x="756642" y="4053840"/>
            <a:ext cx="6294834" cy="1013341"/>
          </a:xfrm>
          <a:prstGeom prst="rect">
            <a:avLst/>
          </a:prstGeom>
          <a:noFill/>
          <a:ln/>
        </p:spPr>
        <p:txBody>
          <a:bodyPr wrap="square" lIns="0" tIns="0" rIns="0" bIns="0" rtlCol="0" anchor="t"/>
          <a:lstStyle/>
          <a:p>
            <a:pPr marL="0" indent="0" algn="l">
              <a:lnSpc>
                <a:spcPts val="2650"/>
              </a:lnSpc>
              <a:buNone/>
            </a:pPr>
            <a:r>
              <a:rPr lang="en-US" sz="1700" dirty="0">
                <a:solidFill>
                  <a:srgbClr val="161613"/>
                </a:solidFill>
                <a:latin typeface="Aptos" panose="020B0004020202020204" pitchFamily="34" charset="0"/>
                <a:ea typeface="Inter" pitchFamily="34" charset="-122"/>
                <a:cs typeface="Inter" pitchFamily="34" charset="-120"/>
              </a:rPr>
              <a:t>There is a need for a system that can monitor multiple parameters in real time, respond quickly to abnormal conditions, and provide immediate alerts for improved safety.</a:t>
            </a:r>
            <a:endParaRPr lang="en-US" sz="1700" dirty="0">
              <a:latin typeface="Aptos" panose="020B0004020202020204" pitchFamily="34" charset="0"/>
            </a:endParaRPr>
          </a:p>
        </p:txBody>
      </p:sp>
      <p:sp>
        <p:nvSpPr>
          <p:cNvPr id="5" name="Text 3"/>
          <p:cNvSpPr/>
          <p:nvPr/>
        </p:nvSpPr>
        <p:spPr>
          <a:xfrm>
            <a:off x="756642" y="5252561"/>
            <a:ext cx="6294834" cy="1688902"/>
          </a:xfrm>
          <a:prstGeom prst="rect">
            <a:avLst/>
          </a:prstGeom>
          <a:noFill/>
          <a:ln/>
        </p:spPr>
        <p:txBody>
          <a:bodyPr wrap="square" lIns="0" tIns="0" rIns="0" bIns="0" rtlCol="0" anchor="t"/>
          <a:lstStyle/>
          <a:p>
            <a:pPr marL="0" indent="0" algn="l">
              <a:lnSpc>
                <a:spcPts val="2650"/>
              </a:lnSpc>
              <a:buNone/>
            </a:pPr>
            <a:r>
              <a:rPr lang="en-US" sz="1700" dirty="0">
                <a:solidFill>
                  <a:srgbClr val="161613"/>
                </a:solidFill>
                <a:latin typeface="Aptos" panose="020B0004020202020204" pitchFamily="34" charset="0"/>
                <a:ea typeface="Inter" pitchFamily="34" charset="-122"/>
                <a:cs typeface="Inter" pitchFamily="34" charset="-120"/>
              </a:rPr>
              <a:t>This embedded system implements a real-time health monitoring solution using FreeRTOS for concurrent task management. The system integrates vital sign monitoring with intelligent fall detection, providing immediate alerts through an interrupt-driven touch interface.</a:t>
            </a:r>
            <a:endParaRPr lang="en-US" sz="1700" dirty="0">
              <a:latin typeface="Aptos" panose="020B0004020202020204" pitchFamily="34" charset="0"/>
            </a:endParaRPr>
          </a:p>
        </p:txBody>
      </p:sp>
      <p:sp>
        <p:nvSpPr>
          <p:cNvPr id="6" name="Shape 4"/>
          <p:cNvSpPr/>
          <p:nvPr/>
        </p:nvSpPr>
        <p:spPr>
          <a:xfrm>
            <a:off x="7586543" y="2003048"/>
            <a:ext cx="107990" cy="107990"/>
          </a:xfrm>
          <a:prstGeom prst="roundRect">
            <a:avLst>
              <a:gd name="adj" fmla="val 423373"/>
            </a:avLst>
          </a:prstGeom>
          <a:solidFill>
            <a:srgbClr val="28282F"/>
          </a:solidFill>
          <a:ln/>
        </p:spPr>
      </p:sp>
      <p:sp>
        <p:nvSpPr>
          <p:cNvPr id="7" name="Text 5"/>
          <p:cNvSpPr/>
          <p:nvPr/>
        </p:nvSpPr>
        <p:spPr>
          <a:xfrm>
            <a:off x="7900511" y="1888212"/>
            <a:ext cx="3788093" cy="337780"/>
          </a:xfrm>
          <a:prstGeom prst="rect">
            <a:avLst/>
          </a:prstGeom>
          <a:noFill/>
          <a:ln/>
        </p:spPr>
        <p:txBody>
          <a:bodyPr wrap="none" lIns="0" tIns="0" rIns="0" bIns="0" rtlCol="0" anchor="t"/>
          <a:lstStyle/>
          <a:p>
            <a:pPr marL="0" indent="0" algn="l">
              <a:lnSpc>
                <a:spcPts val="2650"/>
              </a:lnSpc>
              <a:buNone/>
            </a:pPr>
            <a:r>
              <a:rPr lang="en-US" sz="2100" dirty="0">
                <a:solidFill>
                  <a:srgbClr val="161613"/>
                </a:solidFill>
                <a:latin typeface="Aptos" panose="020B0004020202020204" pitchFamily="34" charset="0"/>
                <a:ea typeface="DM Sans Medium" pitchFamily="34" charset="-122"/>
                <a:cs typeface="DM Sans Medium" pitchFamily="34" charset="-120"/>
              </a:rPr>
              <a:t>FreeRTOS-Based Multitasking</a:t>
            </a:r>
            <a:endParaRPr lang="en-US" sz="2100" dirty="0">
              <a:latin typeface="Aptos" panose="020B0004020202020204" pitchFamily="34" charset="0"/>
            </a:endParaRPr>
          </a:p>
        </p:txBody>
      </p:sp>
      <p:sp>
        <p:nvSpPr>
          <p:cNvPr id="8" name="Text 6"/>
          <p:cNvSpPr/>
          <p:nvPr/>
        </p:nvSpPr>
        <p:spPr>
          <a:xfrm>
            <a:off x="7900511" y="2431971"/>
            <a:ext cx="5980867" cy="675561"/>
          </a:xfrm>
          <a:prstGeom prst="rect">
            <a:avLst/>
          </a:prstGeom>
          <a:noFill/>
          <a:ln/>
        </p:spPr>
        <p:txBody>
          <a:bodyPr wrap="square" lIns="0" tIns="0" rIns="0" bIns="0" rtlCol="0" anchor="t"/>
          <a:lstStyle/>
          <a:p>
            <a:pPr marL="0" indent="0" algn="l">
              <a:lnSpc>
                <a:spcPts val="2650"/>
              </a:lnSpc>
              <a:buNone/>
            </a:pPr>
            <a:r>
              <a:rPr lang="en-US" sz="1700" dirty="0">
                <a:solidFill>
                  <a:srgbClr val="161613"/>
                </a:solidFill>
                <a:latin typeface="Aptos" panose="020B0004020202020204" pitchFamily="34" charset="0"/>
                <a:ea typeface="Inter" pitchFamily="34" charset="-122"/>
                <a:cs typeface="Inter" pitchFamily="34" charset="-120"/>
              </a:rPr>
              <a:t>Priority-based scheduling for concurrent sensor monitoring</a:t>
            </a:r>
            <a:endParaRPr lang="en-US" sz="1700" dirty="0">
              <a:latin typeface="Aptos" panose="020B0004020202020204" pitchFamily="34" charset="0"/>
            </a:endParaRPr>
          </a:p>
        </p:txBody>
      </p:sp>
      <p:sp>
        <p:nvSpPr>
          <p:cNvPr id="9" name="Shape 7"/>
          <p:cNvSpPr/>
          <p:nvPr/>
        </p:nvSpPr>
        <p:spPr>
          <a:xfrm>
            <a:off x="7586543" y="3634442"/>
            <a:ext cx="107990" cy="107990"/>
          </a:xfrm>
          <a:prstGeom prst="roundRect">
            <a:avLst>
              <a:gd name="adj" fmla="val 423373"/>
            </a:avLst>
          </a:prstGeom>
          <a:solidFill>
            <a:srgbClr val="28282F"/>
          </a:solidFill>
          <a:ln/>
        </p:spPr>
      </p:sp>
      <p:sp>
        <p:nvSpPr>
          <p:cNvPr id="10" name="Text 8"/>
          <p:cNvSpPr/>
          <p:nvPr/>
        </p:nvSpPr>
        <p:spPr>
          <a:xfrm>
            <a:off x="7900511" y="3519607"/>
            <a:ext cx="3788093" cy="337780"/>
          </a:xfrm>
          <a:prstGeom prst="rect">
            <a:avLst/>
          </a:prstGeom>
          <a:noFill/>
          <a:ln/>
        </p:spPr>
        <p:txBody>
          <a:bodyPr wrap="none" lIns="0" tIns="0" rIns="0" bIns="0" rtlCol="0" anchor="t"/>
          <a:lstStyle/>
          <a:p>
            <a:pPr marL="0" indent="0" algn="l">
              <a:lnSpc>
                <a:spcPts val="2650"/>
              </a:lnSpc>
              <a:buNone/>
            </a:pPr>
            <a:r>
              <a:rPr lang="en-US" sz="2100" dirty="0">
                <a:solidFill>
                  <a:srgbClr val="161613"/>
                </a:solidFill>
                <a:latin typeface="Aptos" panose="020B0004020202020204" pitchFamily="34" charset="0"/>
                <a:ea typeface="DM Sans Medium" pitchFamily="34" charset="-122"/>
                <a:cs typeface="DM Sans Medium" pitchFamily="34" charset="-120"/>
              </a:rPr>
              <a:t>MAX30100 Sensor Integration</a:t>
            </a:r>
            <a:endParaRPr lang="en-US" sz="2100" dirty="0">
              <a:latin typeface="Aptos" panose="020B0004020202020204" pitchFamily="34" charset="0"/>
            </a:endParaRPr>
          </a:p>
        </p:txBody>
      </p:sp>
      <p:sp>
        <p:nvSpPr>
          <p:cNvPr id="11" name="Text 9"/>
          <p:cNvSpPr/>
          <p:nvPr/>
        </p:nvSpPr>
        <p:spPr>
          <a:xfrm>
            <a:off x="7900511" y="4063365"/>
            <a:ext cx="5980867" cy="337780"/>
          </a:xfrm>
          <a:prstGeom prst="rect">
            <a:avLst/>
          </a:prstGeom>
          <a:noFill/>
          <a:ln/>
        </p:spPr>
        <p:txBody>
          <a:bodyPr wrap="none" lIns="0" tIns="0" rIns="0" bIns="0" rtlCol="0" anchor="t"/>
          <a:lstStyle/>
          <a:p>
            <a:pPr marL="0" indent="0" algn="l">
              <a:lnSpc>
                <a:spcPts val="2650"/>
              </a:lnSpc>
              <a:buNone/>
            </a:pPr>
            <a:r>
              <a:rPr lang="en-US" sz="1700" dirty="0">
                <a:solidFill>
                  <a:srgbClr val="161613"/>
                </a:solidFill>
                <a:latin typeface="Aptos" panose="020B0004020202020204" pitchFamily="34" charset="0"/>
                <a:ea typeface="Inter" pitchFamily="34" charset="-122"/>
                <a:cs typeface="Inter" pitchFamily="34" charset="-120"/>
              </a:rPr>
              <a:t>Heart rate and blood oxygen saturation measurement</a:t>
            </a:r>
            <a:endParaRPr lang="en-US" sz="1700" dirty="0">
              <a:latin typeface="Aptos" panose="020B0004020202020204" pitchFamily="34" charset="0"/>
            </a:endParaRPr>
          </a:p>
        </p:txBody>
      </p:sp>
      <p:sp>
        <p:nvSpPr>
          <p:cNvPr id="12" name="Shape 10"/>
          <p:cNvSpPr/>
          <p:nvPr/>
        </p:nvSpPr>
        <p:spPr>
          <a:xfrm>
            <a:off x="7586543" y="4928056"/>
            <a:ext cx="107990" cy="107990"/>
          </a:xfrm>
          <a:prstGeom prst="roundRect">
            <a:avLst>
              <a:gd name="adj" fmla="val 423373"/>
            </a:avLst>
          </a:prstGeom>
          <a:solidFill>
            <a:srgbClr val="28282F"/>
          </a:solidFill>
          <a:ln/>
        </p:spPr>
      </p:sp>
      <p:sp>
        <p:nvSpPr>
          <p:cNvPr id="13" name="Text 11"/>
          <p:cNvSpPr/>
          <p:nvPr/>
        </p:nvSpPr>
        <p:spPr>
          <a:xfrm>
            <a:off x="7900511" y="4813221"/>
            <a:ext cx="3086576" cy="337780"/>
          </a:xfrm>
          <a:prstGeom prst="rect">
            <a:avLst/>
          </a:prstGeom>
          <a:noFill/>
          <a:ln/>
        </p:spPr>
        <p:txBody>
          <a:bodyPr wrap="none" lIns="0" tIns="0" rIns="0" bIns="0" rtlCol="0" anchor="t"/>
          <a:lstStyle/>
          <a:p>
            <a:pPr marL="0" indent="0" algn="l">
              <a:lnSpc>
                <a:spcPts val="2650"/>
              </a:lnSpc>
              <a:buNone/>
            </a:pPr>
            <a:r>
              <a:rPr lang="en-US" sz="2100" dirty="0">
                <a:solidFill>
                  <a:srgbClr val="161613"/>
                </a:solidFill>
                <a:latin typeface="Aptos" panose="020B0004020202020204" pitchFamily="34" charset="0"/>
                <a:ea typeface="DM Sans Medium" pitchFamily="34" charset="-122"/>
                <a:cs typeface="DM Sans Medium" pitchFamily="34" charset="-120"/>
              </a:rPr>
              <a:t>MPU6050 Fall Detection</a:t>
            </a:r>
            <a:endParaRPr lang="en-US" sz="2100" dirty="0">
              <a:latin typeface="Aptos" panose="020B0004020202020204" pitchFamily="34" charset="0"/>
            </a:endParaRPr>
          </a:p>
        </p:txBody>
      </p:sp>
      <p:sp>
        <p:nvSpPr>
          <p:cNvPr id="14" name="Text 12"/>
          <p:cNvSpPr/>
          <p:nvPr/>
        </p:nvSpPr>
        <p:spPr>
          <a:xfrm>
            <a:off x="7900511" y="5356979"/>
            <a:ext cx="5980867" cy="337780"/>
          </a:xfrm>
          <a:prstGeom prst="rect">
            <a:avLst/>
          </a:prstGeom>
          <a:noFill/>
          <a:ln/>
        </p:spPr>
        <p:txBody>
          <a:bodyPr wrap="none" lIns="0" tIns="0" rIns="0" bIns="0" rtlCol="0" anchor="t"/>
          <a:lstStyle/>
          <a:p>
            <a:pPr marL="0" indent="0" algn="l">
              <a:lnSpc>
                <a:spcPts val="2650"/>
              </a:lnSpc>
              <a:buNone/>
            </a:pPr>
            <a:r>
              <a:rPr lang="en-US" sz="1700" dirty="0">
                <a:solidFill>
                  <a:srgbClr val="161613"/>
                </a:solidFill>
                <a:latin typeface="Aptos" panose="020B0004020202020204" pitchFamily="34" charset="0"/>
                <a:ea typeface="Inter" pitchFamily="34" charset="-122"/>
                <a:cs typeface="Inter" pitchFamily="34" charset="-120"/>
              </a:rPr>
              <a:t>Accelerometer-based impact and free-fall analysis</a:t>
            </a:r>
            <a:endParaRPr lang="en-US" sz="1700" dirty="0">
              <a:latin typeface="Aptos" panose="020B0004020202020204" pitchFamily="34" charset="0"/>
            </a:endParaRPr>
          </a:p>
        </p:txBody>
      </p:sp>
      <p:sp>
        <p:nvSpPr>
          <p:cNvPr id="15" name="Shape 13"/>
          <p:cNvSpPr/>
          <p:nvPr/>
        </p:nvSpPr>
        <p:spPr>
          <a:xfrm>
            <a:off x="7586543" y="6221670"/>
            <a:ext cx="107990" cy="107990"/>
          </a:xfrm>
          <a:prstGeom prst="roundRect">
            <a:avLst>
              <a:gd name="adj" fmla="val 423373"/>
            </a:avLst>
          </a:prstGeom>
          <a:solidFill>
            <a:srgbClr val="28282F"/>
          </a:solidFill>
          <a:ln/>
        </p:spPr>
      </p:sp>
      <p:sp>
        <p:nvSpPr>
          <p:cNvPr id="16" name="Text 14"/>
          <p:cNvSpPr/>
          <p:nvPr/>
        </p:nvSpPr>
        <p:spPr>
          <a:xfrm>
            <a:off x="7900511" y="6106835"/>
            <a:ext cx="3108484" cy="337780"/>
          </a:xfrm>
          <a:prstGeom prst="rect">
            <a:avLst/>
          </a:prstGeom>
          <a:noFill/>
          <a:ln/>
        </p:spPr>
        <p:txBody>
          <a:bodyPr wrap="none" lIns="0" tIns="0" rIns="0" bIns="0" rtlCol="0" anchor="t"/>
          <a:lstStyle/>
          <a:p>
            <a:pPr marL="0" indent="0" algn="l">
              <a:lnSpc>
                <a:spcPts val="2650"/>
              </a:lnSpc>
              <a:buNone/>
            </a:pPr>
            <a:r>
              <a:rPr lang="en-US" sz="2100" dirty="0">
                <a:solidFill>
                  <a:srgbClr val="161613"/>
                </a:solidFill>
                <a:latin typeface="Aptos" panose="020B0004020202020204" pitchFamily="34" charset="0"/>
                <a:ea typeface="DM Sans Medium" pitchFamily="34" charset="-122"/>
                <a:cs typeface="DM Sans Medium" pitchFamily="34" charset="-120"/>
              </a:rPr>
              <a:t>Interrupt-Driven Control</a:t>
            </a:r>
            <a:endParaRPr lang="en-US" sz="2100" dirty="0">
              <a:latin typeface="Aptos" panose="020B0004020202020204" pitchFamily="34" charset="0"/>
            </a:endParaRPr>
          </a:p>
        </p:txBody>
      </p:sp>
      <p:sp>
        <p:nvSpPr>
          <p:cNvPr id="17" name="Text 15"/>
          <p:cNvSpPr/>
          <p:nvPr/>
        </p:nvSpPr>
        <p:spPr>
          <a:xfrm>
            <a:off x="7900511" y="6650593"/>
            <a:ext cx="5980867" cy="675561"/>
          </a:xfrm>
          <a:prstGeom prst="rect">
            <a:avLst/>
          </a:prstGeom>
          <a:noFill/>
          <a:ln/>
        </p:spPr>
        <p:txBody>
          <a:bodyPr wrap="square" lIns="0" tIns="0" rIns="0" bIns="0" rtlCol="0" anchor="t"/>
          <a:lstStyle/>
          <a:p>
            <a:pPr marL="0" indent="0" algn="l">
              <a:lnSpc>
                <a:spcPts val="2650"/>
              </a:lnSpc>
              <a:buNone/>
            </a:pPr>
            <a:r>
              <a:rPr lang="en-US" sz="1700" dirty="0">
                <a:solidFill>
                  <a:srgbClr val="161613"/>
                </a:solidFill>
                <a:latin typeface="Aptos" panose="020B0004020202020204" pitchFamily="34" charset="0"/>
                <a:ea typeface="Inter" pitchFamily="34" charset="-122"/>
                <a:cs typeface="Inter" pitchFamily="34" charset="-120"/>
              </a:rPr>
              <a:t>Fast response touch sensor with semaphore synchronization</a:t>
            </a:r>
            <a:endParaRPr lang="en-US" sz="1700" dirty="0">
              <a:latin typeface="Aptos" panose="020B0004020202020204" pitchFamily="34" charset="0"/>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showMasterSp="0">
  <p:cSld name="Slide 3">
    <p:spTree>
      <p:nvGrpSpPr>
        <p:cNvPr id="1" name=""/>
        <p:cNvGrpSpPr/>
        <p:nvPr/>
      </p:nvGrpSpPr>
      <p:grpSpPr>
        <a:xfrm>
          <a:off x="0" y="0"/>
          <a:ext cx="0" cy="0"/>
          <a:chOff x="0" y="0"/>
          <a:chExt cx="0" cy="0"/>
        </a:xfrm>
      </p:grpSpPr>
      <p:sp>
        <p:nvSpPr>
          <p:cNvPr id="2" name="Text 0"/>
          <p:cNvSpPr/>
          <p:nvPr/>
        </p:nvSpPr>
        <p:spPr>
          <a:xfrm>
            <a:off x="793790" y="1308021"/>
            <a:ext cx="5670590" cy="708779"/>
          </a:xfrm>
          <a:prstGeom prst="rect">
            <a:avLst/>
          </a:prstGeom>
          <a:noFill/>
          <a:ln/>
        </p:spPr>
        <p:txBody>
          <a:bodyPr wrap="none" lIns="0" tIns="0" rIns="0" bIns="0" rtlCol="0" anchor="t"/>
          <a:lstStyle/>
          <a:p>
            <a:pPr marL="0" indent="0" algn="l">
              <a:lnSpc>
                <a:spcPts val="5550"/>
              </a:lnSpc>
              <a:buNone/>
            </a:pPr>
            <a:r>
              <a:rPr lang="en-US" sz="4450" dirty="0">
                <a:solidFill>
                  <a:srgbClr val="161613"/>
                </a:solidFill>
                <a:latin typeface="Aptos" panose="020B0004020202020204" pitchFamily="34" charset="0"/>
                <a:ea typeface="DM Sans Medium" pitchFamily="34" charset="-122"/>
                <a:cs typeface="DM Sans Medium" pitchFamily="34" charset="-120"/>
              </a:rPr>
              <a:t>Project Objectives</a:t>
            </a:r>
            <a:endParaRPr lang="en-US" sz="4450" dirty="0">
              <a:latin typeface="Aptos" panose="020B0004020202020204" pitchFamily="34" charset="0"/>
            </a:endParaRPr>
          </a:p>
        </p:txBody>
      </p:sp>
      <p:sp>
        <p:nvSpPr>
          <p:cNvPr id="3" name="Text 1"/>
          <p:cNvSpPr/>
          <p:nvPr/>
        </p:nvSpPr>
        <p:spPr>
          <a:xfrm>
            <a:off x="793790" y="2356961"/>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Aptos" panose="020B0004020202020204" pitchFamily="34" charset="0"/>
                <a:ea typeface="Inter" pitchFamily="34" charset="-122"/>
                <a:cs typeface="Inter" pitchFamily="34" charset="-120"/>
              </a:rPr>
              <a:t>The system aims to provide continuous health monitoring with immediate fall detection capabilities for elderly care applications.</a:t>
            </a:r>
            <a:endParaRPr lang="en-US" sz="1750" dirty="0">
              <a:latin typeface="Aptos" panose="020B0004020202020204" pitchFamily="34" charset="0"/>
            </a:endParaRPr>
          </a:p>
        </p:txBody>
      </p:sp>
      <p:sp>
        <p:nvSpPr>
          <p:cNvPr id="4" name="Shape 2"/>
          <p:cNvSpPr/>
          <p:nvPr/>
        </p:nvSpPr>
        <p:spPr>
          <a:xfrm>
            <a:off x="793790" y="3462695"/>
            <a:ext cx="113348" cy="113348"/>
          </a:xfrm>
          <a:prstGeom prst="roundRect">
            <a:avLst>
              <a:gd name="adj" fmla="val 403360"/>
            </a:avLst>
          </a:prstGeom>
          <a:solidFill>
            <a:srgbClr val="28282F"/>
          </a:solidFill>
          <a:ln/>
        </p:spPr>
      </p:sp>
      <p:sp>
        <p:nvSpPr>
          <p:cNvPr id="5" name="Text 3"/>
          <p:cNvSpPr/>
          <p:nvPr/>
        </p:nvSpPr>
        <p:spPr>
          <a:xfrm>
            <a:off x="1133951" y="3337917"/>
            <a:ext cx="6039445" cy="725805"/>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Aptos" panose="020B0004020202020204" pitchFamily="34" charset="0"/>
                <a:ea typeface="Inter" pitchFamily="34" charset="-122"/>
                <a:cs typeface="Inter" pitchFamily="34" charset="-120"/>
              </a:rPr>
              <a:t>Design and configure multiple concurrent tasks with appropriate priorities and stack sizes</a:t>
            </a:r>
            <a:endParaRPr lang="en-US" sz="1750" dirty="0">
              <a:latin typeface="Aptos" panose="020B0004020202020204" pitchFamily="34" charset="0"/>
            </a:endParaRPr>
          </a:p>
        </p:txBody>
      </p:sp>
      <p:sp>
        <p:nvSpPr>
          <p:cNvPr id="6" name="Shape 4"/>
          <p:cNvSpPr/>
          <p:nvPr/>
        </p:nvSpPr>
        <p:spPr>
          <a:xfrm>
            <a:off x="7456884" y="3462695"/>
            <a:ext cx="113348" cy="113348"/>
          </a:xfrm>
          <a:prstGeom prst="roundRect">
            <a:avLst>
              <a:gd name="adj" fmla="val 403360"/>
            </a:avLst>
          </a:prstGeom>
          <a:solidFill>
            <a:srgbClr val="28282F"/>
          </a:solidFill>
          <a:ln/>
        </p:spPr>
      </p:sp>
      <p:sp>
        <p:nvSpPr>
          <p:cNvPr id="7" name="Text 5"/>
          <p:cNvSpPr/>
          <p:nvPr/>
        </p:nvSpPr>
        <p:spPr>
          <a:xfrm>
            <a:off x="7797046" y="3337917"/>
            <a:ext cx="6039564" cy="725805"/>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Aptos" panose="020B0004020202020204" pitchFamily="34" charset="0"/>
                <a:ea typeface="Inter" pitchFamily="34" charset="-122"/>
                <a:cs typeface="Inter" pitchFamily="34" charset="-120"/>
              </a:rPr>
              <a:t>To interface the MAX30100 sensor with STM32 using I2C for real-time acquisition of heart rate and SpO₂ data</a:t>
            </a:r>
            <a:endParaRPr lang="en-US" sz="1750" dirty="0">
              <a:latin typeface="Aptos" panose="020B0004020202020204" pitchFamily="34" charset="0"/>
            </a:endParaRPr>
          </a:p>
        </p:txBody>
      </p:sp>
      <p:sp>
        <p:nvSpPr>
          <p:cNvPr id="8" name="Shape 6"/>
          <p:cNvSpPr/>
          <p:nvPr/>
        </p:nvSpPr>
        <p:spPr>
          <a:xfrm>
            <a:off x="793790" y="4642128"/>
            <a:ext cx="113348" cy="113348"/>
          </a:xfrm>
          <a:prstGeom prst="roundRect">
            <a:avLst>
              <a:gd name="adj" fmla="val 403360"/>
            </a:avLst>
          </a:prstGeom>
          <a:solidFill>
            <a:srgbClr val="28282F"/>
          </a:solidFill>
          <a:ln/>
        </p:spPr>
      </p:sp>
      <p:sp>
        <p:nvSpPr>
          <p:cNvPr id="9" name="Text 7"/>
          <p:cNvSpPr/>
          <p:nvPr/>
        </p:nvSpPr>
        <p:spPr>
          <a:xfrm>
            <a:off x="1133951" y="4517350"/>
            <a:ext cx="6039445" cy="725805"/>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Aptos" panose="020B0004020202020204" pitchFamily="34" charset="0"/>
                <a:ea typeface="Inter" pitchFamily="34" charset="-122"/>
                <a:cs typeface="Inter" pitchFamily="34" charset="-120"/>
              </a:rPr>
              <a:t>Implement BPM calculation using peak detection algorithm</a:t>
            </a:r>
            <a:endParaRPr lang="en-US" sz="1750" dirty="0">
              <a:latin typeface="Aptos" panose="020B0004020202020204" pitchFamily="34" charset="0"/>
            </a:endParaRPr>
          </a:p>
        </p:txBody>
      </p:sp>
      <p:sp>
        <p:nvSpPr>
          <p:cNvPr id="10" name="Shape 8"/>
          <p:cNvSpPr/>
          <p:nvPr/>
        </p:nvSpPr>
        <p:spPr>
          <a:xfrm>
            <a:off x="7456884" y="4642128"/>
            <a:ext cx="113348" cy="113348"/>
          </a:xfrm>
          <a:prstGeom prst="roundRect">
            <a:avLst>
              <a:gd name="adj" fmla="val 403360"/>
            </a:avLst>
          </a:prstGeom>
          <a:solidFill>
            <a:srgbClr val="28282F"/>
          </a:solidFill>
          <a:ln/>
        </p:spPr>
      </p:sp>
      <p:sp>
        <p:nvSpPr>
          <p:cNvPr id="11" name="Text 9"/>
          <p:cNvSpPr/>
          <p:nvPr/>
        </p:nvSpPr>
        <p:spPr>
          <a:xfrm>
            <a:off x="7797046" y="4517350"/>
            <a:ext cx="6039564" cy="362903"/>
          </a:xfrm>
          <a:prstGeom prst="rect">
            <a:avLst/>
          </a:prstGeom>
          <a:noFill/>
          <a:ln/>
        </p:spPr>
        <p:txBody>
          <a:bodyPr wrap="none" lIns="0" tIns="0" rIns="0" bIns="0" rtlCol="0" anchor="t"/>
          <a:lstStyle/>
          <a:p>
            <a:pPr marL="0" indent="0" algn="l">
              <a:lnSpc>
                <a:spcPts val="2850"/>
              </a:lnSpc>
              <a:buNone/>
            </a:pPr>
            <a:r>
              <a:rPr lang="en-US" sz="1750" dirty="0">
                <a:solidFill>
                  <a:srgbClr val="161613"/>
                </a:solidFill>
                <a:latin typeface="Aptos" panose="020B0004020202020204" pitchFamily="34" charset="0"/>
                <a:ea typeface="Inter" pitchFamily="34" charset="-122"/>
                <a:cs typeface="Inter" pitchFamily="34" charset="-120"/>
              </a:rPr>
              <a:t>Detect fall using MPU6050 with threshold-based logic.</a:t>
            </a:r>
            <a:endParaRPr lang="en-US" sz="1750" dirty="0">
              <a:latin typeface="Aptos" panose="020B0004020202020204" pitchFamily="34" charset="0"/>
            </a:endParaRPr>
          </a:p>
        </p:txBody>
      </p:sp>
      <p:sp>
        <p:nvSpPr>
          <p:cNvPr id="12" name="Shape 10"/>
          <p:cNvSpPr/>
          <p:nvPr/>
        </p:nvSpPr>
        <p:spPr>
          <a:xfrm>
            <a:off x="793790" y="5821561"/>
            <a:ext cx="113348" cy="113348"/>
          </a:xfrm>
          <a:prstGeom prst="roundRect">
            <a:avLst>
              <a:gd name="adj" fmla="val 403360"/>
            </a:avLst>
          </a:prstGeom>
          <a:solidFill>
            <a:srgbClr val="28282F"/>
          </a:solidFill>
          <a:ln/>
        </p:spPr>
      </p:sp>
      <p:sp>
        <p:nvSpPr>
          <p:cNvPr id="13" name="Text 11"/>
          <p:cNvSpPr/>
          <p:nvPr/>
        </p:nvSpPr>
        <p:spPr>
          <a:xfrm>
            <a:off x="1133951" y="5696783"/>
            <a:ext cx="6039445" cy="362903"/>
          </a:xfrm>
          <a:prstGeom prst="rect">
            <a:avLst/>
          </a:prstGeom>
          <a:noFill/>
          <a:ln/>
        </p:spPr>
        <p:txBody>
          <a:bodyPr wrap="none" lIns="0" tIns="0" rIns="0" bIns="0" rtlCol="0" anchor="t"/>
          <a:lstStyle/>
          <a:p>
            <a:pPr marL="0" indent="0" algn="l">
              <a:lnSpc>
                <a:spcPts val="2850"/>
              </a:lnSpc>
              <a:buNone/>
            </a:pPr>
            <a:r>
              <a:rPr lang="en-US" sz="1750" dirty="0">
                <a:solidFill>
                  <a:srgbClr val="161613"/>
                </a:solidFill>
                <a:latin typeface="Aptos" panose="020B0004020202020204" pitchFamily="34" charset="0"/>
                <a:ea typeface="Inter" pitchFamily="34" charset="-122"/>
                <a:cs typeface="Inter" pitchFamily="34" charset="-120"/>
              </a:rPr>
              <a:t>Implement interrupt-based touch control (EXTI)</a:t>
            </a:r>
            <a:endParaRPr lang="en-US" sz="1750" dirty="0">
              <a:latin typeface="Aptos" panose="020B0004020202020204" pitchFamily="34" charset="0"/>
            </a:endParaRPr>
          </a:p>
        </p:txBody>
      </p:sp>
      <p:sp>
        <p:nvSpPr>
          <p:cNvPr id="14" name="Text 12"/>
          <p:cNvSpPr/>
          <p:nvPr/>
        </p:nvSpPr>
        <p:spPr>
          <a:xfrm>
            <a:off x="1133951" y="6195774"/>
            <a:ext cx="6039445" cy="362903"/>
          </a:xfrm>
          <a:prstGeom prst="rect">
            <a:avLst/>
          </a:prstGeom>
          <a:noFill/>
          <a:ln/>
        </p:spPr>
        <p:txBody>
          <a:bodyPr wrap="none" lIns="0" tIns="0" rIns="0" bIns="0" rtlCol="0" anchor="t"/>
          <a:lstStyle/>
          <a:p>
            <a:pPr marL="0" indent="0" algn="l">
              <a:lnSpc>
                <a:spcPts val="2850"/>
              </a:lnSpc>
              <a:buNone/>
            </a:pPr>
            <a:endParaRPr lang="en-US" sz="1750" dirty="0">
              <a:latin typeface="Aptos" panose="020B0004020202020204" pitchFamily="34" charset="0"/>
            </a:endParaRPr>
          </a:p>
        </p:txBody>
      </p:sp>
      <p:sp>
        <p:nvSpPr>
          <p:cNvPr id="15" name="Shape 13"/>
          <p:cNvSpPr/>
          <p:nvPr/>
        </p:nvSpPr>
        <p:spPr>
          <a:xfrm>
            <a:off x="7456884" y="5821561"/>
            <a:ext cx="113348" cy="113348"/>
          </a:xfrm>
          <a:prstGeom prst="roundRect">
            <a:avLst>
              <a:gd name="adj" fmla="val 403360"/>
            </a:avLst>
          </a:prstGeom>
          <a:solidFill>
            <a:srgbClr val="28282F"/>
          </a:solidFill>
          <a:ln/>
        </p:spPr>
      </p:sp>
      <p:sp>
        <p:nvSpPr>
          <p:cNvPr id="16" name="Text 14"/>
          <p:cNvSpPr/>
          <p:nvPr/>
        </p:nvSpPr>
        <p:spPr>
          <a:xfrm>
            <a:off x="7797046" y="5696783"/>
            <a:ext cx="6039564" cy="725805"/>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Aptos" panose="020B0004020202020204" pitchFamily="34" charset="0"/>
                <a:ea typeface="Inter" pitchFamily="34" charset="-122"/>
                <a:cs typeface="Inter" pitchFamily="34" charset="-120"/>
              </a:rPr>
              <a:t>Use mutex for safe I2C communication and Display real-time data on LCD</a:t>
            </a:r>
            <a:endParaRPr lang="en-US" sz="1750" dirty="0">
              <a:latin typeface="Aptos" panose="020B0004020202020204" pitchFamily="34" charset="0"/>
            </a:endParaRPr>
          </a:p>
        </p:txBody>
      </p:sp>
      <p:sp>
        <p:nvSpPr>
          <p:cNvPr id="17" name="Text 15"/>
          <p:cNvSpPr/>
          <p:nvPr/>
        </p:nvSpPr>
        <p:spPr>
          <a:xfrm>
            <a:off x="7797046" y="6558677"/>
            <a:ext cx="6039564" cy="362903"/>
          </a:xfrm>
          <a:prstGeom prst="rect">
            <a:avLst/>
          </a:prstGeom>
          <a:noFill/>
          <a:ln/>
        </p:spPr>
        <p:txBody>
          <a:bodyPr wrap="none" lIns="0" tIns="0" rIns="0" bIns="0" rtlCol="0" anchor="t"/>
          <a:lstStyle/>
          <a:p>
            <a:pPr marL="0" indent="0" algn="l">
              <a:lnSpc>
                <a:spcPts val="2850"/>
              </a:lnSpc>
              <a:buNone/>
            </a:pPr>
            <a:endParaRPr lang="en-US" sz="1750" dirty="0">
              <a:latin typeface="Aptos" panose="020B0004020202020204" pitchFamily="34" charset="0"/>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showMasterSp="0">
  <p:cSld name="Slide 4">
    <p:spTree>
      <p:nvGrpSpPr>
        <p:cNvPr id="1" name=""/>
        <p:cNvGrpSpPr/>
        <p:nvPr/>
      </p:nvGrpSpPr>
      <p:grpSpPr>
        <a:xfrm>
          <a:off x="0" y="0"/>
          <a:ext cx="0" cy="0"/>
          <a:chOff x="0" y="0"/>
          <a:chExt cx="0" cy="0"/>
        </a:xfrm>
      </p:grpSpPr>
      <p:sp>
        <p:nvSpPr>
          <p:cNvPr id="2" name="Text 0"/>
          <p:cNvSpPr/>
          <p:nvPr/>
        </p:nvSpPr>
        <p:spPr>
          <a:xfrm>
            <a:off x="1079183" y="559594"/>
            <a:ext cx="4925616" cy="564713"/>
          </a:xfrm>
          <a:prstGeom prst="rect">
            <a:avLst/>
          </a:prstGeom>
          <a:noFill/>
          <a:ln/>
        </p:spPr>
        <p:txBody>
          <a:bodyPr wrap="none" lIns="0" tIns="0" rIns="0" bIns="0" rtlCol="0" anchor="t"/>
          <a:lstStyle/>
          <a:p>
            <a:pPr marL="0" indent="0" algn="l">
              <a:lnSpc>
                <a:spcPts val="4400"/>
              </a:lnSpc>
              <a:buNone/>
            </a:pPr>
            <a:r>
              <a:rPr lang="en-US" sz="3550" dirty="0">
                <a:solidFill>
                  <a:srgbClr val="161613"/>
                </a:solidFill>
                <a:latin typeface="DM Sans Medium" pitchFamily="34" charset="0"/>
                <a:ea typeface="DM Sans Medium" pitchFamily="34" charset="-122"/>
                <a:cs typeface="DM Sans Medium" pitchFamily="34" charset="-120"/>
              </a:rPr>
              <a:t>Hardware Components</a:t>
            </a:r>
            <a:endParaRPr lang="en-US" sz="3550" dirty="0"/>
          </a:p>
        </p:txBody>
      </p:sp>
      <p:sp>
        <p:nvSpPr>
          <p:cNvPr id="3" name="Text 1"/>
          <p:cNvSpPr/>
          <p:nvPr/>
        </p:nvSpPr>
        <p:spPr>
          <a:xfrm>
            <a:off x="1079183" y="1412319"/>
            <a:ext cx="12471916" cy="259794"/>
          </a:xfrm>
          <a:prstGeom prst="rect">
            <a:avLst/>
          </a:prstGeom>
          <a:noFill/>
          <a:ln/>
        </p:spPr>
        <p:txBody>
          <a:bodyPr wrap="none" lIns="0" tIns="0" rIns="0" bIns="0" rtlCol="0" anchor="t"/>
          <a:lstStyle/>
          <a:p>
            <a:pPr marL="0" indent="0" algn="l">
              <a:lnSpc>
                <a:spcPts val="2000"/>
              </a:lnSpc>
              <a:buNone/>
            </a:pPr>
            <a:r>
              <a:rPr lang="en-US" sz="1400" dirty="0">
                <a:solidFill>
                  <a:srgbClr val="161613"/>
                </a:solidFill>
                <a:latin typeface="Inter" pitchFamily="34" charset="0"/>
                <a:ea typeface="Inter" pitchFamily="34" charset="-122"/>
                <a:cs typeface="Inter" pitchFamily="34" charset="-120"/>
              </a:rPr>
              <a:t>The system comprises a microcontroller platform with integrated sensors and display modules for comprehensive health monitoring.</a:t>
            </a:r>
            <a:endParaRPr lang="en-US" sz="1400" dirty="0"/>
          </a:p>
        </p:txBody>
      </p:sp>
      <p:sp>
        <p:nvSpPr>
          <p:cNvPr id="4" name="Shape 2"/>
          <p:cNvSpPr/>
          <p:nvPr/>
        </p:nvSpPr>
        <p:spPr>
          <a:xfrm>
            <a:off x="1079183" y="1834039"/>
            <a:ext cx="6163985" cy="1935956"/>
          </a:xfrm>
          <a:prstGeom prst="roundRect">
            <a:avLst>
              <a:gd name="adj" fmla="val 1400"/>
            </a:avLst>
          </a:prstGeom>
          <a:solidFill>
            <a:srgbClr val="EDEBE3"/>
          </a:solidFill>
          <a:ln/>
        </p:spPr>
      </p:sp>
      <p:sp>
        <p:nvSpPr>
          <p:cNvPr id="5" name="Shape 3"/>
          <p:cNvSpPr/>
          <p:nvPr/>
        </p:nvSpPr>
        <p:spPr>
          <a:xfrm>
            <a:off x="1259919" y="2014776"/>
            <a:ext cx="542211" cy="542211"/>
          </a:xfrm>
          <a:prstGeom prst="roundRect">
            <a:avLst>
              <a:gd name="adj" fmla="val 16862597"/>
            </a:avLst>
          </a:prstGeom>
          <a:solidFill>
            <a:srgbClr val="28282F"/>
          </a:solidFill>
          <a:ln/>
        </p:spPr>
      </p:sp>
      <p:pic>
        <p:nvPicPr>
          <p:cNvPr id="6" name="Image 0" descr="preencoded.png"/>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1408986" y="2163842"/>
            <a:ext cx="243959" cy="243959"/>
          </a:xfrm>
          <a:prstGeom prst="rect">
            <a:avLst/>
          </a:prstGeom>
        </p:spPr>
      </p:pic>
      <p:sp>
        <p:nvSpPr>
          <p:cNvPr id="7" name="Text 4"/>
          <p:cNvSpPr/>
          <p:nvPr/>
        </p:nvSpPr>
        <p:spPr>
          <a:xfrm>
            <a:off x="1259919" y="2700933"/>
            <a:ext cx="2406372" cy="282416"/>
          </a:xfrm>
          <a:prstGeom prst="rect">
            <a:avLst/>
          </a:prstGeom>
          <a:noFill/>
          <a:ln/>
        </p:spPr>
        <p:txBody>
          <a:bodyPr wrap="none" lIns="0" tIns="0" rIns="0" bIns="0" rtlCol="0" anchor="t"/>
          <a:lstStyle/>
          <a:p>
            <a:pPr marL="0" indent="0" algn="l">
              <a:lnSpc>
                <a:spcPts val="2200"/>
              </a:lnSpc>
              <a:buNone/>
            </a:pPr>
            <a:r>
              <a:rPr lang="en-US" sz="1750" dirty="0">
                <a:solidFill>
                  <a:srgbClr val="161613"/>
                </a:solidFill>
                <a:latin typeface="DM Sans Medium" pitchFamily="34" charset="0"/>
                <a:ea typeface="DM Sans Medium" pitchFamily="34" charset="-122"/>
                <a:cs typeface="DM Sans Medium" pitchFamily="34" charset="-120"/>
              </a:rPr>
              <a:t>STM32 Microcontroller</a:t>
            </a:r>
            <a:endParaRPr lang="en-US" sz="1750" dirty="0"/>
          </a:p>
        </p:txBody>
      </p:sp>
      <p:sp>
        <p:nvSpPr>
          <p:cNvPr id="8" name="Text 5"/>
          <p:cNvSpPr/>
          <p:nvPr/>
        </p:nvSpPr>
        <p:spPr>
          <a:xfrm>
            <a:off x="1259919" y="3069669"/>
            <a:ext cx="5802511" cy="519589"/>
          </a:xfrm>
          <a:prstGeom prst="rect">
            <a:avLst/>
          </a:prstGeom>
          <a:noFill/>
          <a:ln/>
        </p:spPr>
        <p:txBody>
          <a:bodyPr wrap="square" lIns="0" tIns="0" rIns="0" bIns="0" rtlCol="0" anchor="t"/>
          <a:lstStyle/>
          <a:p>
            <a:pPr marL="0" indent="0" algn="l">
              <a:lnSpc>
                <a:spcPts val="2000"/>
              </a:lnSpc>
              <a:buNone/>
            </a:pPr>
            <a:r>
              <a:rPr lang="en-US" sz="1400" dirty="0">
                <a:solidFill>
                  <a:srgbClr val="161613"/>
                </a:solidFill>
                <a:latin typeface="Inter" pitchFamily="34" charset="0"/>
                <a:ea typeface="Inter" pitchFamily="34" charset="-122"/>
                <a:cs typeface="Inter" pitchFamily="34" charset="-120"/>
              </a:rPr>
              <a:t>ARM Cortex-M core running at 72 MHz, providing sufficient processing power for real-time operations</a:t>
            </a:r>
            <a:endParaRPr lang="en-US" sz="1400" dirty="0"/>
          </a:p>
        </p:txBody>
      </p:sp>
      <p:sp>
        <p:nvSpPr>
          <p:cNvPr id="9" name="Shape 6"/>
          <p:cNvSpPr/>
          <p:nvPr/>
        </p:nvSpPr>
        <p:spPr>
          <a:xfrm>
            <a:off x="7387114" y="1834039"/>
            <a:ext cx="6163985" cy="1935956"/>
          </a:xfrm>
          <a:prstGeom prst="roundRect">
            <a:avLst>
              <a:gd name="adj" fmla="val 1400"/>
            </a:avLst>
          </a:prstGeom>
          <a:solidFill>
            <a:srgbClr val="EDEBE3"/>
          </a:solidFill>
          <a:ln/>
        </p:spPr>
      </p:sp>
      <p:sp>
        <p:nvSpPr>
          <p:cNvPr id="10" name="Shape 7"/>
          <p:cNvSpPr/>
          <p:nvPr/>
        </p:nvSpPr>
        <p:spPr>
          <a:xfrm>
            <a:off x="7567851" y="2014776"/>
            <a:ext cx="542211" cy="542211"/>
          </a:xfrm>
          <a:prstGeom prst="roundRect">
            <a:avLst>
              <a:gd name="adj" fmla="val 16862597"/>
            </a:avLst>
          </a:prstGeom>
          <a:solidFill>
            <a:srgbClr val="28282F"/>
          </a:solidFill>
          <a:ln/>
        </p:spPr>
      </p:sp>
      <p:pic>
        <p:nvPicPr>
          <p:cNvPr id="11" name="Image 1" descr="preencoded.png"/>
          <p:cNvPicPr>
            <a:picLocks noChangeAspect="1"/>
          </p:cNvPicPr>
          <p:nvPr/>
        </p:nvPicPr>
        <p:blipFill>
          <a:blip>
            <a:extLst>
              <a:ext uri="{96DAC541-7B7A-43D3-8B79-37D633B846F1}">
                <asvg:svgBlip xmlns:asvg="http://schemas.microsoft.com/office/drawing/2016/SVG/main" r:embed="rId4"/>
              </a:ext>
            </a:extLst>
          </a:blip>
          <a:stretch>
            <a:fillRect/>
          </a:stretch>
        </p:blipFill>
        <p:spPr>
          <a:xfrm>
            <a:off x="7716917" y="2163842"/>
            <a:ext cx="243959" cy="243959"/>
          </a:xfrm>
          <a:prstGeom prst="rect">
            <a:avLst/>
          </a:prstGeom>
        </p:spPr>
      </p:pic>
      <p:sp>
        <p:nvSpPr>
          <p:cNvPr id="12" name="Text 8"/>
          <p:cNvSpPr/>
          <p:nvPr/>
        </p:nvSpPr>
        <p:spPr>
          <a:xfrm>
            <a:off x="7567851" y="2700933"/>
            <a:ext cx="2259330" cy="282416"/>
          </a:xfrm>
          <a:prstGeom prst="rect">
            <a:avLst/>
          </a:prstGeom>
          <a:noFill/>
          <a:ln/>
        </p:spPr>
        <p:txBody>
          <a:bodyPr wrap="none" lIns="0" tIns="0" rIns="0" bIns="0" rtlCol="0" anchor="t"/>
          <a:lstStyle/>
          <a:p>
            <a:pPr marL="0" indent="0" algn="l">
              <a:lnSpc>
                <a:spcPts val="2200"/>
              </a:lnSpc>
              <a:buNone/>
            </a:pPr>
            <a:r>
              <a:rPr lang="en-US" sz="1750" dirty="0">
                <a:solidFill>
                  <a:srgbClr val="161613"/>
                </a:solidFill>
                <a:latin typeface="DM Sans Medium" pitchFamily="34" charset="0"/>
                <a:ea typeface="DM Sans Medium" pitchFamily="34" charset="-122"/>
                <a:cs typeface="DM Sans Medium" pitchFamily="34" charset="-120"/>
              </a:rPr>
              <a:t>MAX30100 Sensor</a:t>
            </a:r>
            <a:endParaRPr lang="en-US" sz="1750" dirty="0"/>
          </a:p>
        </p:txBody>
      </p:sp>
      <p:sp>
        <p:nvSpPr>
          <p:cNvPr id="13" name="Text 9"/>
          <p:cNvSpPr/>
          <p:nvPr/>
        </p:nvSpPr>
        <p:spPr>
          <a:xfrm>
            <a:off x="7567851" y="3069669"/>
            <a:ext cx="5802511" cy="519589"/>
          </a:xfrm>
          <a:prstGeom prst="rect">
            <a:avLst/>
          </a:prstGeom>
          <a:noFill/>
          <a:ln/>
        </p:spPr>
        <p:txBody>
          <a:bodyPr wrap="square" lIns="0" tIns="0" rIns="0" bIns="0" rtlCol="0" anchor="t"/>
          <a:lstStyle/>
          <a:p>
            <a:pPr marL="0" indent="0" algn="l">
              <a:lnSpc>
                <a:spcPts val="2000"/>
              </a:lnSpc>
              <a:buNone/>
            </a:pPr>
            <a:r>
              <a:rPr lang="en-US" sz="1400" dirty="0">
                <a:solidFill>
                  <a:srgbClr val="161613"/>
                </a:solidFill>
                <a:latin typeface="Inter" pitchFamily="34" charset="0"/>
                <a:ea typeface="Inter" pitchFamily="34" charset="-122"/>
                <a:cs typeface="Inter" pitchFamily="34" charset="-120"/>
              </a:rPr>
              <a:t>Integrated pulse oximeter and heart-rate monitor using photoplethysmography (PPG) principle</a:t>
            </a:r>
            <a:endParaRPr lang="en-US" sz="1400" dirty="0"/>
          </a:p>
        </p:txBody>
      </p:sp>
      <p:sp>
        <p:nvSpPr>
          <p:cNvPr id="14" name="Shape 10"/>
          <p:cNvSpPr/>
          <p:nvPr/>
        </p:nvSpPr>
        <p:spPr>
          <a:xfrm>
            <a:off x="1079183" y="3913942"/>
            <a:ext cx="6163985" cy="1935956"/>
          </a:xfrm>
          <a:prstGeom prst="roundRect">
            <a:avLst>
              <a:gd name="adj" fmla="val 1400"/>
            </a:avLst>
          </a:prstGeom>
          <a:solidFill>
            <a:srgbClr val="EDEBE3"/>
          </a:solidFill>
          <a:ln/>
        </p:spPr>
      </p:sp>
      <p:sp>
        <p:nvSpPr>
          <p:cNvPr id="15" name="Shape 11"/>
          <p:cNvSpPr/>
          <p:nvPr/>
        </p:nvSpPr>
        <p:spPr>
          <a:xfrm>
            <a:off x="1259919" y="4094678"/>
            <a:ext cx="542211" cy="542211"/>
          </a:xfrm>
          <a:prstGeom prst="roundRect">
            <a:avLst>
              <a:gd name="adj" fmla="val 16862597"/>
            </a:avLst>
          </a:prstGeom>
          <a:solidFill>
            <a:srgbClr val="28282F"/>
          </a:solidFill>
          <a:ln/>
        </p:spPr>
      </p:sp>
      <p:pic>
        <p:nvPicPr>
          <p:cNvPr id="16" name="Image 2" descr="preencoded.png"/>
          <p:cNvPicPr>
            <a:picLocks noChangeAspect="1"/>
          </p:cNvPicPr>
          <p:nvPr/>
        </p:nvPicPr>
        <p:blipFill>
          <a:blip>
            <a:extLst>
              <a:ext uri="{96DAC541-7B7A-43D3-8B79-37D633B846F1}">
                <asvg:svgBlip xmlns:asvg="http://schemas.microsoft.com/office/drawing/2016/SVG/main" r:embed="rId5"/>
              </a:ext>
            </a:extLst>
          </a:blip>
          <a:stretch>
            <a:fillRect/>
          </a:stretch>
        </p:blipFill>
        <p:spPr>
          <a:xfrm>
            <a:off x="1408986" y="4243745"/>
            <a:ext cx="243959" cy="243959"/>
          </a:xfrm>
          <a:prstGeom prst="rect">
            <a:avLst/>
          </a:prstGeom>
        </p:spPr>
      </p:pic>
      <p:sp>
        <p:nvSpPr>
          <p:cNvPr id="17" name="Text 12"/>
          <p:cNvSpPr/>
          <p:nvPr/>
        </p:nvSpPr>
        <p:spPr>
          <a:xfrm>
            <a:off x="1259919" y="4780836"/>
            <a:ext cx="2259330" cy="282416"/>
          </a:xfrm>
          <a:prstGeom prst="rect">
            <a:avLst/>
          </a:prstGeom>
          <a:noFill/>
          <a:ln/>
        </p:spPr>
        <p:txBody>
          <a:bodyPr wrap="none" lIns="0" tIns="0" rIns="0" bIns="0" rtlCol="0" anchor="t"/>
          <a:lstStyle/>
          <a:p>
            <a:pPr marL="0" indent="0" algn="l">
              <a:lnSpc>
                <a:spcPts val="2200"/>
              </a:lnSpc>
              <a:buNone/>
            </a:pPr>
            <a:r>
              <a:rPr lang="en-US" sz="1750" dirty="0">
                <a:solidFill>
                  <a:srgbClr val="161613"/>
                </a:solidFill>
                <a:latin typeface="DM Sans Medium" pitchFamily="34" charset="0"/>
                <a:ea typeface="DM Sans Medium" pitchFamily="34" charset="-122"/>
                <a:cs typeface="DM Sans Medium" pitchFamily="34" charset="-120"/>
              </a:rPr>
              <a:t>MPU6050 Sensor</a:t>
            </a:r>
            <a:endParaRPr lang="en-US" sz="1750" dirty="0"/>
          </a:p>
        </p:txBody>
      </p:sp>
      <p:sp>
        <p:nvSpPr>
          <p:cNvPr id="18" name="Text 13"/>
          <p:cNvSpPr/>
          <p:nvPr/>
        </p:nvSpPr>
        <p:spPr>
          <a:xfrm>
            <a:off x="1259919" y="5149572"/>
            <a:ext cx="5802511" cy="519589"/>
          </a:xfrm>
          <a:prstGeom prst="rect">
            <a:avLst/>
          </a:prstGeom>
          <a:noFill/>
          <a:ln/>
        </p:spPr>
        <p:txBody>
          <a:bodyPr wrap="square" lIns="0" tIns="0" rIns="0" bIns="0" rtlCol="0" anchor="t"/>
          <a:lstStyle/>
          <a:p>
            <a:pPr marL="0" indent="0" algn="l">
              <a:lnSpc>
                <a:spcPts val="2000"/>
              </a:lnSpc>
              <a:buNone/>
            </a:pPr>
            <a:r>
              <a:rPr lang="en-US" sz="1400" dirty="0">
                <a:solidFill>
                  <a:srgbClr val="161613"/>
                </a:solidFill>
                <a:latin typeface="Inter" pitchFamily="34" charset="0"/>
                <a:ea typeface="Inter" pitchFamily="34" charset="-122"/>
                <a:cs typeface="Inter" pitchFamily="34" charset="-120"/>
              </a:rPr>
              <a:t>3-axis accelerometer and gyroscope for motion detection and fall analysis</a:t>
            </a:r>
            <a:endParaRPr lang="en-US" sz="1400" dirty="0"/>
          </a:p>
        </p:txBody>
      </p:sp>
      <p:sp>
        <p:nvSpPr>
          <p:cNvPr id="19" name="Shape 14"/>
          <p:cNvSpPr/>
          <p:nvPr/>
        </p:nvSpPr>
        <p:spPr>
          <a:xfrm>
            <a:off x="7387114" y="3913942"/>
            <a:ext cx="6163985" cy="1935956"/>
          </a:xfrm>
          <a:prstGeom prst="roundRect">
            <a:avLst>
              <a:gd name="adj" fmla="val 1400"/>
            </a:avLst>
          </a:prstGeom>
          <a:solidFill>
            <a:srgbClr val="EDEBE3"/>
          </a:solidFill>
          <a:ln/>
        </p:spPr>
      </p:sp>
      <p:sp>
        <p:nvSpPr>
          <p:cNvPr id="20" name="Shape 15"/>
          <p:cNvSpPr/>
          <p:nvPr/>
        </p:nvSpPr>
        <p:spPr>
          <a:xfrm>
            <a:off x="7567851" y="4094678"/>
            <a:ext cx="542211" cy="542211"/>
          </a:xfrm>
          <a:prstGeom prst="roundRect">
            <a:avLst>
              <a:gd name="adj" fmla="val 16862597"/>
            </a:avLst>
          </a:prstGeom>
          <a:solidFill>
            <a:srgbClr val="28282F"/>
          </a:solidFill>
          <a:ln/>
        </p:spPr>
      </p:sp>
      <p:pic>
        <p:nvPicPr>
          <p:cNvPr id="21" name="Image 3" descr="preencoded.png"/>
          <p:cNvPicPr>
            <a:picLocks noChangeAspect="1"/>
          </p:cNvPicPr>
          <p:nvPr/>
        </p:nvPicPr>
        <p:blipFill>
          <a:blip>
            <a:extLst>
              <a:ext uri="{96DAC541-7B7A-43D3-8B79-37D633B846F1}">
                <asvg:svgBlip xmlns:asvg="http://schemas.microsoft.com/office/drawing/2016/SVG/main" r:embed="rId6"/>
              </a:ext>
            </a:extLst>
          </a:blip>
          <a:stretch>
            <a:fillRect/>
          </a:stretch>
        </p:blipFill>
        <p:spPr>
          <a:xfrm>
            <a:off x="7716917" y="4243745"/>
            <a:ext cx="243959" cy="243959"/>
          </a:xfrm>
          <a:prstGeom prst="rect">
            <a:avLst/>
          </a:prstGeom>
        </p:spPr>
      </p:pic>
      <p:sp>
        <p:nvSpPr>
          <p:cNvPr id="22" name="Text 16"/>
          <p:cNvSpPr/>
          <p:nvPr/>
        </p:nvSpPr>
        <p:spPr>
          <a:xfrm>
            <a:off x="7567851" y="4780836"/>
            <a:ext cx="2631519" cy="282416"/>
          </a:xfrm>
          <a:prstGeom prst="rect">
            <a:avLst/>
          </a:prstGeom>
          <a:noFill/>
          <a:ln/>
        </p:spPr>
        <p:txBody>
          <a:bodyPr wrap="none" lIns="0" tIns="0" rIns="0" bIns="0" rtlCol="0" anchor="t"/>
          <a:lstStyle/>
          <a:p>
            <a:pPr marL="0" indent="0" algn="l">
              <a:lnSpc>
                <a:spcPts val="2200"/>
              </a:lnSpc>
              <a:buNone/>
            </a:pPr>
            <a:r>
              <a:rPr lang="en-US" sz="1750" dirty="0">
                <a:solidFill>
                  <a:srgbClr val="161613"/>
                </a:solidFill>
                <a:latin typeface="DM Sans Medium" pitchFamily="34" charset="0"/>
                <a:ea typeface="DM Sans Medium" pitchFamily="34" charset="-122"/>
                <a:cs typeface="DM Sans Medium" pitchFamily="34" charset="-120"/>
              </a:rPr>
              <a:t>Capacitive Touch Sensor</a:t>
            </a:r>
            <a:endParaRPr lang="en-US" sz="1750" dirty="0"/>
          </a:p>
        </p:txBody>
      </p:sp>
      <p:sp>
        <p:nvSpPr>
          <p:cNvPr id="23" name="Text 17"/>
          <p:cNvSpPr/>
          <p:nvPr/>
        </p:nvSpPr>
        <p:spPr>
          <a:xfrm>
            <a:off x="7567851" y="5149572"/>
            <a:ext cx="5802511" cy="519589"/>
          </a:xfrm>
          <a:prstGeom prst="rect">
            <a:avLst/>
          </a:prstGeom>
          <a:noFill/>
          <a:ln/>
        </p:spPr>
        <p:txBody>
          <a:bodyPr wrap="square" lIns="0" tIns="0" rIns="0" bIns="0" rtlCol="0" anchor="t"/>
          <a:lstStyle/>
          <a:p>
            <a:pPr marL="0" indent="0" algn="l">
              <a:lnSpc>
                <a:spcPts val="2000"/>
              </a:lnSpc>
              <a:buNone/>
            </a:pPr>
            <a:r>
              <a:rPr lang="en-US" sz="1400" dirty="0">
                <a:solidFill>
                  <a:srgbClr val="161613"/>
                </a:solidFill>
                <a:latin typeface="Inter" pitchFamily="34" charset="0"/>
                <a:ea typeface="Inter" pitchFamily="34" charset="-122"/>
                <a:cs typeface="Inter" pitchFamily="34" charset="-120"/>
              </a:rPr>
              <a:t>Interrupt-generating touch button for user interaction and system control</a:t>
            </a:r>
            <a:endParaRPr lang="en-US" sz="1400" dirty="0"/>
          </a:p>
        </p:txBody>
      </p:sp>
      <p:sp>
        <p:nvSpPr>
          <p:cNvPr id="24" name="Shape 18"/>
          <p:cNvSpPr/>
          <p:nvPr/>
        </p:nvSpPr>
        <p:spPr>
          <a:xfrm>
            <a:off x="1079183" y="5993844"/>
            <a:ext cx="12471916" cy="1676162"/>
          </a:xfrm>
          <a:prstGeom prst="roundRect">
            <a:avLst>
              <a:gd name="adj" fmla="val 1618"/>
            </a:avLst>
          </a:prstGeom>
          <a:solidFill>
            <a:srgbClr val="EDEBE3"/>
          </a:solidFill>
          <a:ln/>
        </p:spPr>
      </p:sp>
      <p:sp>
        <p:nvSpPr>
          <p:cNvPr id="25" name="Shape 19"/>
          <p:cNvSpPr/>
          <p:nvPr/>
        </p:nvSpPr>
        <p:spPr>
          <a:xfrm>
            <a:off x="1259919" y="6174581"/>
            <a:ext cx="542211" cy="542211"/>
          </a:xfrm>
          <a:prstGeom prst="roundRect">
            <a:avLst>
              <a:gd name="adj" fmla="val 16862597"/>
            </a:avLst>
          </a:prstGeom>
          <a:solidFill>
            <a:srgbClr val="28282F"/>
          </a:solidFill>
          <a:ln/>
        </p:spPr>
      </p:sp>
      <p:pic>
        <p:nvPicPr>
          <p:cNvPr id="26" name="Image 4" descr="preencoded.png"/>
          <p:cNvPicPr>
            <a:picLocks noChangeAspect="1"/>
          </p:cNvPicPr>
          <p:nvPr/>
        </p:nvPicPr>
        <p:blipFill>
          <a:blip>
            <a:extLst>
              <a:ext uri="{96DAC541-7B7A-43D3-8B79-37D633B846F1}">
                <asvg:svgBlip xmlns:asvg="http://schemas.microsoft.com/office/drawing/2016/SVG/main" r:embed="rId7"/>
              </a:ext>
            </a:extLst>
          </a:blip>
          <a:stretch>
            <a:fillRect/>
          </a:stretch>
        </p:blipFill>
        <p:spPr>
          <a:xfrm>
            <a:off x="1408986" y="6323648"/>
            <a:ext cx="243959" cy="243959"/>
          </a:xfrm>
          <a:prstGeom prst="rect">
            <a:avLst/>
          </a:prstGeom>
        </p:spPr>
      </p:pic>
      <p:sp>
        <p:nvSpPr>
          <p:cNvPr id="27" name="Text 20"/>
          <p:cNvSpPr/>
          <p:nvPr/>
        </p:nvSpPr>
        <p:spPr>
          <a:xfrm>
            <a:off x="1259919" y="6860738"/>
            <a:ext cx="2259330" cy="282416"/>
          </a:xfrm>
          <a:prstGeom prst="rect">
            <a:avLst/>
          </a:prstGeom>
          <a:noFill/>
          <a:ln/>
        </p:spPr>
        <p:txBody>
          <a:bodyPr wrap="none" lIns="0" tIns="0" rIns="0" bIns="0" rtlCol="0" anchor="t"/>
          <a:lstStyle/>
          <a:p>
            <a:pPr marL="0" indent="0" algn="l">
              <a:lnSpc>
                <a:spcPts val="2200"/>
              </a:lnSpc>
              <a:buNone/>
            </a:pPr>
            <a:r>
              <a:rPr lang="en-US" sz="1750" dirty="0">
                <a:solidFill>
                  <a:srgbClr val="161613"/>
                </a:solidFill>
                <a:latin typeface="DM Sans Medium" pitchFamily="34" charset="0"/>
                <a:ea typeface="DM Sans Medium" pitchFamily="34" charset="-122"/>
                <a:cs typeface="DM Sans Medium" pitchFamily="34" charset="-120"/>
              </a:rPr>
              <a:t>16×2 LCD Display</a:t>
            </a:r>
            <a:endParaRPr lang="en-US" sz="1750" dirty="0"/>
          </a:p>
        </p:txBody>
      </p:sp>
      <p:sp>
        <p:nvSpPr>
          <p:cNvPr id="28" name="Text 21"/>
          <p:cNvSpPr/>
          <p:nvPr/>
        </p:nvSpPr>
        <p:spPr>
          <a:xfrm>
            <a:off x="1259919" y="7229475"/>
            <a:ext cx="12110442" cy="259794"/>
          </a:xfrm>
          <a:prstGeom prst="rect">
            <a:avLst/>
          </a:prstGeom>
          <a:noFill/>
          <a:ln/>
        </p:spPr>
        <p:txBody>
          <a:bodyPr wrap="none" lIns="0" tIns="0" rIns="0" bIns="0" rtlCol="0" anchor="t"/>
          <a:lstStyle/>
          <a:p>
            <a:pPr marL="0" indent="0" algn="l">
              <a:lnSpc>
                <a:spcPts val="2000"/>
              </a:lnSpc>
              <a:buNone/>
            </a:pPr>
            <a:r>
              <a:rPr lang="en-US" sz="1400" dirty="0">
                <a:solidFill>
                  <a:srgbClr val="161613"/>
                </a:solidFill>
                <a:latin typeface="Inter" pitchFamily="34" charset="0"/>
                <a:ea typeface="Inter" pitchFamily="34" charset="-122"/>
                <a:cs typeface="Inter" pitchFamily="34" charset="-120"/>
              </a:rPr>
              <a:t>Character LCD for real-time data visualization and system status updates</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Sp="0">
  <p:cSld name="Slide 5">
    <p:spTree>
      <p:nvGrpSpPr>
        <p:cNvPr id="1" name=""/>
        <p:cNvGrpSpPr/>
        <p:nvPr/>
      </p:nvGrpSpPr>
      <p:grpSpPr>
        <a:xfrm>
          <a:off x="0" y="0"/>
          <a:ext cx="0" cy="0"/>
          <a:chOff x="0" y="0"/>
          <a:chExt cx="0" cy="0"/>
        </a:xfrm>
      </p:grpSpPr>
      <p:sp>
        <p:nvSpPr>
          <p:cNvPr id="2" name="Text 0"/>
          <p:cNvSpPr/>
          <p:nvPr/>
        </p:nvSpPr>
        <p:spPr>
          <a:xfrm>
            <a:off x="793790" y="707946"/>
            <a:ext cx="10316766" cy="708779"/>
          </a:xfrm>
          <a:prstGeom prst="rect">
            <a:avLst/>
          </a:prstGeom>
          <a:noFill/>
          <a:ln/>
        </p:spPr>
        <p:txBody>
          <a:bodyPr wrap="none" lIns="0" tIns="0" rIns="0" bIns="0" rtlCol="0" anchor="t"/>
          <a:lstStyle/>
          <a:p>
            <a:pPr marL="0" indent="0" algn="l">
              <a:lnSpc>
                <a:spcPts val="5550"/>
              </a:lnSpc>
              <a:buNone/>
            </a:pPr>
            <a:r>
              <a:rPr lang="en-US" sz="4450" dirty="0">
                <a:solidFill>
                  <a:srgbClr val="161613"/>
                </a:solidFill>
                <a:latin typeface="Aptos" panose="020B0004020202020204" pitchFamily="34" charset="0"/>
                <a:ea typeface="DM Sans Medium" pitchFamily="34" charset="-122"/>
                <a:cs typeface="DM Sans Medium" pitchFamily="34" charset="-120"/>
              </a:rPr>
              <a:t>System Design: FreeRTOS Architecture</a:t>
            </a:r>
            <a:endParaRPr lang="en-US" sz="4450" dirty="0">
              <a:latin typeface="Aptos" panose="020B0004020202020204" pitchFamily="34" charset="0"/>
            </a:endParaRPr>
          </a:p>
        </p:txBody>
      </p:sp>
      <p:sp>
        <p:nvSpPr>
          <p:cNvPr id="3" name="Text 1"/>
          <p:cNvSpPr/>
          <p:nvPr/>
        </p:nvSpPr>
        <p:spPr>
          <a:xfrm>
            <a:off x="793790" y="1756886"/>
            <a:ext cx="13042821" cy="725805"/>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Aptos" panose="020B0004020202020204" pitchFamily="34" charset="0"/>
                <a:ea typeface="Inter" pitchFamily="34" charset="-122"/>
                <a:cs typeface="Inter" pitchFamily="34" charset="-120"/>
              </a:rPr>
              <a:t>The system is implemented using FreeRTOS with four concurrent tasks assigned different priorities to ensure efficient execution and fast response to critical events.</a:t>
            </a:r>
            <a:endParaRPr lang="en-US" sz="1750" dirty="0">
              <a:latin typeface="Aptos" panose="020B0004020202020204" pitchFamily="34" charset="0"/>
            </a:endParaRPr>
          </a:p>
        </p:txBody>
      </p:sp>
      <p:sp>
        <p:nvSpPr>
          <p:cNvPr id="4" name="Text 2"/>
          <p:cNvSpPr/>
          <p:nvPr/>
        </p:nvSpPr>
        <p:spPr>
          <a:xfrm>
            <a:off x="793790" y="2737842"/>
            <a:ext cx="453628" cy="283488"/>
          </a:xfrm>
          <a:prstGeom prst="rect">
            <a:avLst/>
          </a:prstGeom>
          <a:noFill/>
          <a:ln/>
        </p:spPr>
        <p:txBody>
          <a:bodyPr wrap="none" lIns="0" tIns="0" rIns="0" bIns="0" rtlCol="0" anchor="t"/>
          <a:lstStyle/>
          <a:p>
            <a:pPr marL="0" indent="0" algn="l">
              <a:lnSpc>
                <a:spcPts val="2850"/>
              </a:lnSpc>
              <a:buNone/>
            </a:pPr>
            <a:r>
              <a:rPr lang="en-US" sz="1750" dirty="0">
                <a:solidFill>
                  <a:srgbClr val="161613"/>
                </a:solidFill>
                <a:latin typeface="Aptos" panose="020B0004020202020204" pitchFamily="34" charset="0"/>
                <a:ea typeface="DM Sans Light" pitchFamily="34" charset="-122"/>
                <a:cs typeface="DM Sans Light" pitchFamily="34" charset="-120"/>
              </a:rPr>
              <a:t>01</a:t>
            </a:r>
            <a:endParaRPr lang="en-US" sz="1750" dirty="0">
              <a:latin typeface="Aptos" panose="020B0004020202020204" pitchFamily="34" charset="0"/>
            </a:endParaRPr>
          </a:p>
        </p:txBody>
      </p:sp>
      <p:sp>
        <p:nvSpPr>
          <p:cNvPr id="5" name="Shape 3"/>
          <p:cNvSpPr/>
          <p:nvPr/>
        </p:nvSpPr>
        <p:spPr>
          <a:xfrm>
            <a:off x="793790" y="3092887"/>
            <a:ext cx="6407944" cy="30480"/>
          </a:xfrm>
          <a:prstGeom prst="rect">
            <a:avLst/>
          </a:prstGeom>
          <a:solidFill>
            <a:srgbClr val="28282F"/>
          </a:solidFill>
          <a:ln/>
        </p:spPr>
      </p:sp>
      <p:sp>
        <p:nvSpPr>
          <p:cNvPr id="6" name="Text 4"/>
          <p:cNvSpPr/>
          <p:nvPr/>
        </p:nvSpPr>
        <p:spPr>
          <a:xfrm>
            <a:off x="793790" y="3267194"/>
            <a:ext cx="4040624" cy="354330"/>
          </a:xfrm>
          <a:prstGeom prst="rect">
            <a:avLst/>
          </a:prstGeom>
          <a:noFill/>
          <a:ln/>
        </p:spPr>
        <p:txBody>
          <a:bodyPr wrap="none" lIns="0" tIns="0" rIns="0" bIns="0" rtlCol="0" anchor="t"/>
          <a:lstStyle/>
          <a:p>
            <a:pPr marL="0" indent="0" algn="l">
              <a:lnSpc>
                <a:spcPts val="2750"/>
              </a:lnSpc>
              <a:buNone/>
            </a:pPr>
            <a:r>
              <a:rPr lang="en-US" sz="2200" dirty="0">
                <a:solidFill>
                  <a:srgbClr val="161613"/>
                </a:solidFill>
                <a:latin typeface="Aptos" panose="020B0004020202020204" pitchFamily="34" charset="0"/>
                <a:ea typeface="DM Sans Medium" pitchFamily="34" charset="-122"/>
                <a:cs typeface="DM Sans Medium" pitchFamily="34" charset="-120"/>
              </a:rPr>
              <a:t>Touch Control Task (Priority 3)</a:t>
            </a:r>
            <a:endParaRPr lang="en-US" sz="2200" dirty="0">
              <a:latin typeface="Aptos" panose="020B0004020202020204" pitchFamily="34" charset="0"/>
            </a:endParaRPr>
          </a:p>
        </p:txBody>
      </p:sp>
      <p:sp>
        <p:nvSpPr>
          <p:cNvPr id="7" name="Text 5"/>
          <p:cNvSpPr/>
          <p:nvPr/>
        </p:nvSpPr>
        <p:spPr>
          <a:xfrm>
            <a:off x="793790" y="3757613"/>
            <a:ext cx="6407944" cy="1088708"/>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Aptos" panose="020B0004020202020204" pitchFamily="34" charset="0"/>
                <a:ea typeface="Inter" pitchFamily="34" charset="-122"/>
                <a:cs typeface="Inter" pitchFamily="34" charset="-120"/>
              </a:rPr>
              <a:t>Handles user input using EXTI interrupt and controls system ON/OFF state transitions.</a:t>
            </a:r>
            <a:endParaRPr lang="en-US" sz="1750" dirty="0">
              <a:latin typeface="Aptos" panose="020B0004020202020204" pitchFamily="34" charset="0"/>
            </a:endParaRPr>
          </a:p>
          <a:p>
            <a:pPr marL="0" indent="0" algn="l">
              <a:lnSpc>
                <a:spcPts val="2850"/>
              </a:lnSpc>
              <a:buNone/>
            </a:pPr>
            <a:r>
              <a:rPr lang="en-US" sz="1750" dirty="0">
                <a:solidFill>
                  <a:srgbClr val="161613"/>
                </a:solidFill>
                <a:latin typeface="Aptos" panose="020B0004020202020204" pitchFamily="34" charset="0"/>
                <a:ea typeface="Inter" pitchFamily="34" charset="-122"/>
                <a:cs typeface="Inter" pitchFamily="34" charset="-120"/>
              </a:rPr>
              <a:t>(Highest priority for immediate user response)</a:t>
            </a:r>
            <a:endParaRPr lang="en-US" sz="1750" dirty="0">
              <a:latin typeface="Aptos" panose="020B0004020202020204" pitchFamily="34" charset="0"/>
            </a:endParaRPr>
          </a:p>
        </p:txBody>
      </p:sp>
      <p:sp>
        <p:nvSpPr>
          <p:cNvPr id="8" name="Text 6"/>
          <p:cNvSpPr/>
          <p:nvPr/>
        </p:nvSpPr>
        <p:spPr>
          <a:xfrm>
            <a:off x="7428548" y="2737842"/>
            <a:ext cx="453628" cy="283488"/>
          </a:xfrm>
          <a:prstGeom prst="rect">
            <a:avLst/>
          </a:prstGeom>
          <a:noFill/>
          <a:ln/>
        </p:spPr>
        <p:txBody>
          <a:bodyPr wrap="none" lIns="0" tIns="0" rIns="0" bIns="0" rtlCol="0" anchor="t"/>
          <a:lstStyle/>
          <a:p>
            <a:pPr marL="0" indent="0" algn="l">
              <a:lnSpc>
                <a:spcPts val="2850"/>
              </a:lnSpc>
              <a:buNone/>
            </a:pPr>
            <a:r>
              <a:rPr lang="en-US" sz="1750" dirty="0">
                <a:solidFill>
                  <a:srgbClr val="161613"/>
                </a:solidFill>
                <a:latin typeface="Aptos" panose="020B0004020202020204" pitchFamily="34" charset="0"/>
                <a:ea typeface="DM Sans Light" pitchFamily="34" charset="-122"/>
                <a:cs typeface="DM Sans Light" pitchFamily="34" charset="-120"/>
              </a:rPr>
              <a:t>02</a:t>
            </a:r>
            <a:endParaRPr lang="en-US" sz="1750" dirty="0">
              <a:latin typeface="Aptos" panose="020B0004020202020204" pitchFamily="34" charset="0"/>
            </a:endParaRPr>
          </a:p>
        </p:txBody>
      </p:sp>
      <p:sp>
        <p:nvSpPr>
          <p:cNvPr id="9" name="Shape 7"/>
          <p:cNvSpPr/>
          <p:nvPr/>
        </p:nvSpPr>
        <p:spPr>
          <a:xfrm>
            <a:off x="7428548" y="3092887"/>
            <a:ext cx="6408063" cy="30480"/>
          </a:xfrm>
          <a:prstGeom prst="rect">
            <a:avLst/>
          </a:prstGeom>
          <a:solidFill>
            <a:srgbClr val="28282F"/>
          </a:solidFill>
          <a:ln/>
        </p:spPr>
      </p:sp>
      <p:sp>
        <p:nvSpPr>
          <p:cNvPr id="10" name="Text 8"/>
          <p:cNvSpPr/>
          <p:nvPr/>
        </p:nvSpPr>
        <p:spPr>
          <a:xfrm>
            <a:off x="7428548" y="3267194"/>
            <a:ext cx="3544967" cy="354330"/>
          </a:xfrm>
          <a:prstGeom prst="rect">
            <a:avLst/>
          </a:prstGeom>
          <a:noFill/>
          <a:ln/>
        </p:spPr>
        <p:txBody>
          <a:bodyPr wrap="none" lIns="0" tIns="0" rIns="0" bIns="0" rtlCol="0" anchor="t"/>
          <a:lstStyle/>
          <a:p>
            <a:pPr marL="0" indent="0" algn="l">
              <a:lnSpc>
                <a:spcPts val="2750"/>
              </a:lnSpc>
              <a:buNone/>
            </a:pPr>
            <a:r>
              <a:rPr lang="en-US" sz="2200" dirty="0">
                <a:solidFill>
                  <a:srgbClr val="161613"/>
                </a:solidFill>
                <a:latin typeface="Aptos" panose="020B0004020202020204" pitchFamily="34" charset="0"/>
                <a:ea typeface="DM Sans Medium" pitchFamily="34" charset="-122"/>
                <a:cs typeface="DM Sans Medium" pitchFamily="34" charset="-120"/>
              </a:rPr>
              <a:t>MAX30100 Task (Priority 1)</a:t>
            </a:r>
            <a:endParaRPr lang="en-US" sz="2200" dirty="0">
              <a:latin typeface="Aptos" panose="020B0004020202020204" pitchFamily="34" charset="0"/>
            </a:endParaRPr>
          </a:p>
        </p:txBody>
      </p:sp>
      <p:sp>
        <p:nvSpPr>
          <p:cNvPr id="11" name="Text 9"/>
          <p:cNvSpPr/>
          <p:nvPr/>
        </p:nvSpPr>
        <p:spPr>
          <a:xfrm>
            <a:off x="7428548" y="3757613"/>
            <a:ext cx="6408063" cy="1088708"/>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Aptos" panose="020B0004020202020204" pitchFamily="34" charset="0"/>
                <a:ea typeface="Inter" pitchFamily="34" charset="-122"/>
                <a:cs typeface="Inter" pitchFamily="34" charset="-120"/>
              </a:rPr>
              <a:t>Reads heart rate and SpO₂ data periodically (~100 ms) and performs basic signal processing and averaging.</a:t>
            </a:r>
            <a:endParaRPr lang="en-US" sz="1750" dirty="0">
              <a:latin typeface="Aptos" panose="020B0004020202020204" pitchFamily="34" charset="0"/>
            </a:endParaRPr>
          </a:p>
          <a:p>
            <a:pPr marL="0" indent="0" algn="l">
              <a:lnSpc>
                <a:spcPts val="2850"/>
              </a:lnSpc>
              <a:buNone/>
            </a:pPr>
            <a:r>
              <a:rPr lang="en-US" sz="1750" dirty="0">
                <a:solidFill>
                  <a:srgbClr val="161613"/>
                </a:solidFill>
                <a:latin typeface="Aptos" panose="020B0004020202020204" pitchFamily="34" charset="0"/>
                <a:ea typeface="Inter" pitchFamily="34" charset="-122"/>
                <a:cs typeface="Inter" pitchFamily="34" charset="-120"/>
              </a:rPr>
              <a:t>(Normal priority as slight delay is acceptable)</a:t>
            </a:r>
            <a:endParaRPr lang="en-US" sz="1750" dirty="0">
              <a:latin typeface="Aptos" panose="020B0004020202020204" pitchFamily="34" charset="0"/>
            </a:endParaRPr>
          </a:p>
        </p:txBody>
      </p:sp>
      <p:sp>
        <p:nvSpPr>
          <p:cNvPr id="12" name="Text 10"/>
          <p:cNvSpPr/>
          <p:nvPr/>
        </p:nvSpPr>
        <p:spPr>
          <a:xfrm>
            <a:off x="793790" y="5243155"/>
            <a:ext cx="453628" cy="283488"/>
          </a:xfrm>
          <a:prstGeom prst="rect">
            <a:avLst/>
          </a:prstGeom>
          <a:noFill/>
          <a:ln/>
        </p:spPr>
        <p:txBody>
          <a:bodyPr wrap="none" lIns="0" tIns="0" rIns="0" bIns="0" rtlCol="0" anchor="t"/>
          <a:lstStyle/>
          <a:p>
            <a:pPr marL="0" indent="0" algn="l">
              <a:lnSpc>
                <a:spcPts val="2850"/>
              </a:lnSpc>
              <a:buNone/>
            </a:pPr>
            <a:r>
              <a:rPr lang="en-US" sz="1750" dirty="0">
                <a:solidFill>
                  <a:srgbClr val="161613"/>
                </a:solidFill>
                <a:latin typeface="Aptos" panose="020B0004020202020204" pitchFamily="34" charset="0"/>
                <a:ea typeface="DM Sans Light" pitchFamily="34" charset="-122"/>
                <a:cs typeface="DM Sans Light" pitchFamily="34" charset="-120"/>
              </a:rPr>
              <a:t>03</a:t>
            </a:r>
            <a:endParaRPr lang="en-US" sz="1750" dirty="0">
              <a:latin typeface="Aptos" panose="020B0004020202020204" pitchFamily="34" charset="0"/>
            </a:endParaRPr>
          </a:p>
        </p:txBody>
      </p:sp>
      <p:sp>
        <p:nvSpPr>
          <p:cNvPr id="13" name="Shape 11"/>
          <p:cNvSpPr/>
          <p:nvPr/>
        </p:nvSpPr>
        <p:spPr>
          <a:xfrm>
            <a:off x="793790" y="5598200"/>
            <a:ext cx="6407944" cy="30480"/>
          </a:xfrm>
          <a:prstGeom prst="rect">
            <a:avLst/>
          </a:prstGeom>
          <a:solidFill>
            <a:srgbClr val="28282F"/>
          </a:solidFill>
          <a:ln/>
        </p:spPr>
      </p:sp>
      <p:sp>
        <p:nvSpPr>
          <p:cNvPr id="14" name="Text 12"/>
          <p:cNvSpPr/>
          <p:nvPr/>
        </p:nvSpPr>
        <p:spPr>
          <a:xfrm>
            <a:off x="793790" y="5772507"/>
            <a:ext cx="3503890" cy="354330"/>
          </a:xfrm>
          <a:prstGeom prst="rect">
            <a:avLst/>
          </a:prstGeom>
          <a:noFill/>
          <a:ln/>
        </p:spPr>
        <p:txBody>
          <a:bodyPr wrap="none" lIns="0" tIns="0" rIns="0" bIns="0" rtlCol="0" anchor="t"/>
          <a:lstStyle/>
          <a:p>
            <a:pPr marL="0" indent="0" algn="l">
              <a:lnSpc>
                <a:spcPts val="2750"/>
              </a:lnSpc>
              <a:buNone/>
            </a:pPr>
            <a:r>
              <a:rPr lang="en-US" sz="2200" dirty="0">
                <a:solidFill>
                  <a:srgbClr val="161613"/>
                </a:solidFill>
                <a:latin typeface="Aptos" panose="020B0004020202020204" pitchFamily="34" charset="0"/>
                <a:ea typeface="DM Sans Medium" pitchFamily="34" charset="-122"/>
                <a:cs typeface="DM Sans Medium" pitchFamily="34" charset="-120"/>
              </a:rPr>
              <a:t>MPU6050 Task (Priority 2)</a:t>
            </a:r>
            <a:endParaRPr lang="en-US" sz="2200" dirty="0">
              <a:latin typeface="Aptos" panose="020B0004020202020204" pitchFamily="34" charset="0"/>
            </a:endParaRPr>
          </a:p>
        </p:txBody>
      </p:sp>
      <p:sp>
        <p:nvSpPr>
          <p:cNvPr id="15" name="Text 13"/>
          <p:cNvSpPr/>
          <p:nvPr/>
        </p:nvSpPr>
        <p:spPr>
          <a:xfrm>
            <a:off x="793790" y="6262926"/>
            <a:ext cx="6407944" cy="1088708"/>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Aptos" panose="020B0004020202020204" pitchFamily="34" charset="0"/>
                <a:ea typeface="Inter" pitchFamily="34" charset="-122"/>
                <a:cs typeface="Inter" pitchFamily="34" charset="-120"/>
              </a:rPr>
              <a:t>Continuously monitors accelerometer data and detects fall conditions using threshold-based logic.</a:t>
            </a:r>
            <a:endParaRPr lang="en-US" sz="1750" dirty="0">
              <a:latin typeface="Aptos" panose="020B0004020202020204" pitchFamily="34" charset="0"/>
            </a:endParaRPr>
          </a:p>
          <a:p>
            <a:pPr marL="0" indent="0" algn="l">
              <a:lnSpc>
                <a:spcPts val="2850"/>
              </a:lnSpc>
              <a:buNone/>
            </a:pPr>
            <a:r>
              <a:rPr lang="en-US" sz="1750" dirty="0">
                <a:solidFill>
                  <a:srgbClr val="161613"/>
                </a:solidFill>
                <a:latin typeface="Aptos" panose="020B0004020202020204" pitchFamily="34" charset="0"/>
                <a:ea typeface="Inter" pitchFamily="34" charset="-122"/>
                <a:cs typeface="Inter" pitchFamily="34" charset="-120"/>
              </a:rPr>
              <a:t>(Higher priority due to critical nature of fall detection)</a:t>
            </a:r>
            <a:endParaRPr lang="en-US" sz="1750" dirty="0">
              <a:latin typeface="Aptos" panose="020B0004020202020204" pitchFamily="34" charset="0"/>
            </a:endParaRPr>
          </a:p>
        </p:txBody>
      </p:sp>
      <p:sp>
        <p:nvSpPr>
          <p:cNvPr id="16" name="Text 14"/>
          <p:cNvSpPr/>
          <p:nvPr/>
        </p:nvSpPr>
        <p:spPr>
          <a:xfrm>
            <a:off x="7428548" y="5243155"/>
            <a:ext cx="453628" cy="283488"/>
          </a:xfrm>
          <a:prstGeom prst="rect">
            <a:avLst/>
          </a:prstGeom>
          <a:noFill/>
          <a:ln/>
        </p:spPr>
        <p:txBody>
          <a:bodyPr wrap="none" lIns="0" tIns="0" rIns="0" bIns="0" rtlCol="0" anchor="t"/>
          <a:lstStyle/>
          <a:p>
            <a:pPr marL="0" indent="0" algn="l">
              <a:lnSpc>
                <a:spcPts val="2850"/>
              </a:lnSpc>
              <a:buNone/>
            </a:pPr>
            <a:r>
              <a:rPr lang="en-US" sz="1750" dirty="0">
                <a:solidFill>
                  <a:srgbClr val="161613"/>
                </a:solidFill>
                <a:latin typeface="Aptos" panose="020B0004020202020204" pitchFamily="34" charset="0"/>
                <a:ea typeface="DM Sans Light" pitchFamily="34" charset="-122"/>
                <a:cs typeface="DM Sans Light" pitchFamily="34" charset="-120"/>
              </a:rPr>
              <a:t>04</a:t>
            </a:r>
            <a:endParaRPr lang="en-US" sz="1750" dirty="0">
              <a:latin typeface="Aptos" panose="020B0004020202020204" pitchFamily="34" charset="0"/>
            </a:endParaRPr>
          </a:p>
        </p:txBody>
      </p:sp>
      <p:sp>
        <p:nvSpPr>
          <p:cNvPr id="17" name="Shape 15"/>
          <p:cNvSpPr/>
          <p:nvPr/>
        </p:nvSpPr>
        <p:spPr>
          <a:xfrm>
            <a:off x="7428548" y="5598200"/>
            <a:ext cx="6408063" cy="30480"/>
          </a:xfrm>
          <a:prstGeom prst="rect">
            <a:avLst/>
          </a:prstGeom>
          <a:solidFill>
            <a:srgbClr val="28282F"/>
          </a:solidFill>
          <a:ln/>
        </p:spPr>
      </p:sp>
      <p:sp>
        <p:nvSpPr>
          <p:cNvPr id="18" name="Text 16"/>
          <p:cNvSpPr/>
          <p:nvPr/>
        </p:nvSpPr>
        <p:spPr>
          <a:xfrm>
            <a:off x="7428548" y="5772507"/>
            <a:ext cx="3158252" cy="354330"/>
          </a:xfrm>
          <a:prstGeom prst="rect">
            <a:avLst/>
          </a:prstGeom>
          <a:noFill/>
          <a:ln/>
        </p:spPr>
        <p:txBody>
          <a:bodyPr wrap="none" lIns="0" tIns="0" rIns="0" bIns="0" rtlCol="0" anchor="t"/>
          <a:lstStyle/>
          <a:p>
            <a:pPr marL="0" indent="0" algn="l">
              <a:lnSpc>
                <a:spcPts val="2750"/>
              </a:lnSpc>
              <a:buNone/>
            </a:pPr>
            <a:r>
              <a:rPr lang="en-US" sz="2200" dirty="0">
                <a:solidFill>
                  <a:srgbClr val="161613"/>
                </a:solidFill>
                <a:latin typeface="Aptos" panose="020B0004020202020204" pitchFamily="34" charset="0"/>
                <a:ea typeface="DM Sans Medium" pitchFamily="34" charset="-122"/>
                <a:cs typeface="DM Sans Medium" pitchFamily="34" charset="-120"/>
              </a:rPr>
              <a:t>Display Task (Priority 0)</a:t>
            </a:r>
            <a:endParaRPr lang="en-US" sz="2200" dirty="0">
              <a:latin typeface="Aptos" panose="020B0004020202020204" pitchFamily="34" charset="0"/>
            </a:endParaRPr>
          </a:p>
        </p:txBody>
      </p:sp>
      <p:sp>
        <p:nvSpPr>
          <p:cNvPr id="19" name="Text 17"/>
          <p:cNvSpPr/>
          <p:nvPr/>
        </p:nvSpPr>
        <p:spPr>
          <a:xfrm>
            <a:off x="7428548" y="6262926"/>
            <a:ext cx="6408063" cy="1088708"/>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Aptos" panose="020B0004020202020204" pitchFamily="34" charset="0"/>
                <a:ea typeface="Inter" pitchFamily="34" charset="-122"/>
                <a:cs typeface="Inter" pitchFamily="34" charset="-120"/>
              </a:rPr>
              <a:t>Updates LCD with latest sensor readings and system status at regular intervals (~500 ms).</a:t>
            </a:r>
            <a:endParaRPr lang="en-US" sz="1750" dirty="0">
              <a:latin typeface="Aptos" panose="020B0004020202020204" pitchFamily="34" charset="0"/>
            </a:endParaRPr>
          </a:p>
          <a:p>
            <a:pPr marL="0" indent="0" algn="l">
              <a:lnSpc>
                <a:spcPts val="2850"/>
              </a:lnSpc>
              <a:buNone/>
            </a:pPr>
            <a:r>
              <a:rPr lang="en-US" sz="1750" dirty="0">
                <a:solidFill>
                  <a:srgbClr val="161613"/>
                </a:solidFill>
                <a:latin typeface="Aptos" panose="020B0004020202020204" pitchFamily="34" charset="0"/>
                <a:ea typeface="Inter" pitchFamily="34" charset="-122"/>
                <a:cs typeface="Inter" pitchFamily="34" charset="-120"/>
              </a:rPr>
              <a:t>(Lowest priority as it is not time-critical)</a:t>
            </a:r>
            <a:endParaRPr lang="en-US" sz="1750" dirty="0">
              <a:latin typeface="Aptos" panose="020B0004020202020204" pitchFamily="34" charset="0"/>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MasterSp="0">
  <p:cSld name="Slide 6">
    <p:spTree>
      <p:nvGrpSpPr>
        <p:cNvPr id="1" name=""/>
        <p:cNvGrpSpPr/>
        <p:nvPr/>
      </p:nvGrpSpPr>
      <p:grpSpPr>
        <a:xfrm>
          <a:off x="0" y="0"/>
          <a:ext cx="0" cy="0"/>
          <a:chOff x="0" y="0"/>
          <a:chExt cx="0" cy="0"/>
        </a:xfrm>
      </p:grpSpPr>
      <p:sp>
        <p:nvSpPr>
          <p:cNvPr id="2" name="Text 0"/>
          <p:cNvSpPr/>
          <p:nvPr/>
        </p:nvSpPr>
        <p:spPr>
          <a:xfrm>
            <a:off x="793790" y="1118235"/>
            <a:ext cx="8216146" cy="708779"/>
          </a:xfrm>
          <a:prstGeom prst="rect">
            <a:avLst/>
          </a:prstGeom>
          <a:noFill/>
          <a:ln/>
        </p:spPr>
        <p:txBody>
          <a:bodyPr wrap="none" lIns="0" tIns="0" rIns="0" bIns="0" rtlCol="0" anchor="t"/>
          <a:lstStyle/>
          <a:p>
            <a:pPr marL="0" indent="0" algn="l">
              <a:lnSpc>
                <a:spcPts val="5550"/>
              </a:lnSpc>
              <a:buNone/>
            </a:pPr>
            <a:r>
              <a:rPr lang="en-US" sz="4450" dirty="0">
                <a:solidFill>
                  <a:srgbClr val="161613"/>
                </a:solidFill>
                <a:latin typeface="Aptos" panose="020B0004020202020204" pitchFamily="34" charset="0"/>
                <a:ea typeface="DM Sans Medium" pitchFamily="34" charset="-122"/>
                <a:cs typeface="DM Sans Medium" pitchFamily="34" charset="-120"/>
              </a:rPr>
              <a:t>Interrupt-Based Touch Control</a:t>
            </a:r>
            <a:endParaRPr lang="en-US" sz="4450" dirty="0">
              <a:latin typeface="Aptos" panose="020B0004020202020204" pitchFamily="34" charset="0"/>
            </a:endParaRPr>
          </a:p>
        </p:txBody>
      </p:sp>
      <p:sp>
        <p:nvSpPr>
          <p:cNvPr id="3" name="Text 1"/>
          <p:cNvSpPr/>
          <p:nvPr/>
        </p:nvSpPr>
        <p:spPr>
          <a:xfrm>
            <a:off x="793790" y="2371249"/>
            <a:ext cx="7604284" cy="725805"/>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Aptos" panose="020B0004020202020204" pitchFamily="34" charset="0"/>
                <a:ea typeface="Inter" pitchFamily="34" charset="-122"/>
                <a:cs typeface="Inter" pitchFamily="34" charset="-120"/>
              </a:rPr>
              <a:t>The touch sensor is connected to a GPIO pin configured as an external interrupt (EXTI), allowing immediate detection of user input.</a:t>
            </a:r>
            <a:endParaRPr lang="en-US" sz="1750" dirty="0">
              <a:latin typeface="Aptos" panose="020B0004020202020204" pitchFamily="34" charset="0"/>
            </a:endParaRPr>
          </a:p>
        </p:txBody>
      </p:sp>
      <p:sp>
        <p:nvSpPr>
          <p:cNvPr id="4" name="Text 2"/>
          <p:cNvSpPr/>
          <p:nvPr/>
        </p:nvSpPr>
        <p:spPr>
          <a:xfrm>
            <a:off x="793790" y="3323868"/>
            <a:ext cx="3402330" cy="425291"/>
          </a:xfrm>
          <a:prstGeom prst="rect">
            <a:avLst/>
          </a:prstGeom>
          <a:noFill/>
          <a:ln/>
        </p:spPr>
        <p:txBody>
          <a:bodyPr wrap="none" lIns="0" tIns="0" rIns="0" bIns="0" rtlCol="0" anchor="t"/>
          <a:lstStyle/>
          <a:p>
            <a:pPr marL="0" indent="0" algn="l">
              <a:lnSpc>
                <a:spcPts val="3300"/>
              </a:lnSpc>
              <a:buNone/>
            </a:pPr>
            <a:r>
              <a:rPr lang="en-US" sz="2650" b="1" dirty="0">
                <a:solidFill>
                  <a:srgbClr val="161613"/>
                </a:solidFill>
                <a:latin typeface="Aptos" panose="020B0004020202020204" pitchFamily="34" charset="0"/>
                <a:ea typeface="DM Sans Medium" pitchFamily="34" charset="-122"/>
                <a:cs typeface="DM Sans Medium" pitchFamily="34" charset="-120"/>
              </a:rPr>
              <a:t>Working:</a:t>
            </a:r>
            <a:endParaRPr lang="en-US" sz="2650" dirty="0">
              <a:latin typeface="Aptos" panose="020B0004020202020204" pitchFamily="34" charset="0"/>
            </a:endParaRPr>
          </a:p>
        </p:txBody>
      </p:sp>
      <p:sp>
        <p:nvSpPr>
          <p:cNvPr id="5" name="Text 3"/>
          <p:cNvSpPr/>
          <p:nvPr/>
        </p:nvSpPr>
        <p:spPr>
          <a:xfrm>
            <a:off x="793790" y="3975973"/>
            <a:ext cx="7604284" cy="1689497"/>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161613"/>
                </a:solidFill>
                <a:latin typeface="Aptos" panose="020B0004020202020204" pitchFamily="34" charset="0"/>
                <a:ea typeface="Inter" pitchFamily="34" charset="-122"/>
                <a:cs typeface="Inter" pitchFamily="34" charset="-120"/>
              </a:rPr>
              <a:t>Touch input triggers EXTI interrupt on GPIO pin</a:t>
            </a:r>
            <a:endParaRPr lang="en-US" sz="1750" dirty="0">
              <a:latin typeface="Aptos" panose="020B0004020202020204" pitchFamily="34" charset="0"/>
            </a:endParaRPr>
          </a:p>
          <a:p>
            <a:pPr marL="342900" indent="-342900" algn="l">
              <a:lnSpc>
                <a:spcPts val="2850"/>
              </a:lnSpc>
              <a:buSzPct val="100000"/>
              <a:buChar char="•"/>
            </a:pPr>
            <a:r>
              <a:rPr lang="en-US" sz="1750" dirty="0">
                <a:solidFill>
                  <a:srgbClr val="161613"/>
                </a:solidFill>
                <a:latin typeface="Aptos" panose="020B0004020202020204" pitchFamily="34" charset="0"/>
                <a:ea typeface="Inter" pitchFamily="34" charset="-122"/>
                <a:cs typeface="Inter" pitchFamily="34" charset="-120"/>
              </a:rPr>
              <a:t>Interrupt Service Routine (ISR) is executed instantly</a:t>
            </a:r>
            <a:endParaRPr lang="en-US" sz="1750" dirty="0">
              <a:latin typeface="Aptos" panose="020B0004020202020204" pitchFamily="34" charset="0"/>
            </a:endParaRPr>
          </a:p>
          <a:p>
            <a:pPr marL="342900" indent="-342900" algn="l">
              <a:lnSpc>
                <a:spcPts val="2850"/>
              </a:lnSpc>
              <a:buSzPct val="100000"/>
              <a:buChar char="•"/>
            </a:pPr>
            <a:r>
              <a:rPr lang="en-US" sz="1750" dirty="0">
                <a:solidFill>
                  <a:srgbClr val="161613"/>
                </a:solidFill>
                <a:latin typeface="Aptos" panose="020B0004020202020204" pitchFamily="34" charset="0"/>
                <a:ea typeface="Inter" pitchFamily="34" charset="-122"/>
                <a:cs typeface="Inter" pitchFamily="34" charset="-120"/>
              </a:rPr>
              <a:t>System state (ON/OFF) is toggled inside task/logic</a:t>
            </a:r>
            <a:endParaRPr lang="en-US" sz="1750" dirty="0">
              <a:latin typeface="Aptos" panose="020B0004020202020204" pitchFamily="34" charset="0"/>
            </a:endParaRPr>
          </a:p>
          <a:p>
            <a:pPr marL="342900" indent="-342900" algn="l">
              <a:lnSpc>
                <a:spcPts val="2850"/>
              </a:lnSpc>
              <a:buSzPct val="100000"/>
              <a:buChar char="•"/>
            </a:pPr>
            <a:r>
              <a:rPr lang="en-US" sz="1750" dirty="0">
                <a:solidFill>
                  <a:srgbClr val="161613"/>
                </a:solidFill>
                <a:latin typeface="Aptos" panose="020B0004020202020204" pitchFamily="34" charset="0"/>
                <a:ea typeface="Inter" pitchFamily="34" charset="-122"/>
                <a:cs typeface="Inter" pitchFamily="34" charset="-120"/>
              </a:rPr>
              <a:t>Eliminates need for continuous polling</a:t>
            </a:r>
            <a:endParaRPr lang="en-US" sz="1750" dirty="0">
              <a:latin typeface="Aptos" panose="020B0004020202020204" pitchFamily="34" charset="0"/>
            </a:endParaRPr>
          </a:p>
        </p:txBody>
      </p:sp>
      <p:sp>
        <p:nvSpPr>
          <p:cNvPr id="6" name="Text 4"/>
          <p:cNvSpPr/>
          <p:nvPr/>
        </p:nvSpPr>
        <p:spPr>
          <a:xfrm>
            <a:off x="793790" y="5869543"/>
            <a:ext cx="7604284" cy="362903"/>
          </a:xfrm>
          <a:prstGeom prst="rect">
            <a:avLst/>
          </a:prstGeom>
          <a:noFill/>
          <a:ln/>
        </p:spPr>
        <p:txBody>
          <a:bodyPr wrap="none" lIns="0" tIns="0" rIns="0" bIns="0" rtlCol="0" anchor="t"/>
          <a:lstStyle/>
          <a:p>
            <a:pPr marL="0" indent="0" algn="l">
              <a:lnSpc>
                <a:spcPts val="2850"/>
              </a:lnSpc>
              <a:buNone/>
            </a:pPr>
            <a:endParaRPr lang="en-US" sz="1750" dirty="0">
              <a:latin typeface="Aptos" panose="020B0004020202020204" pitchFamily="34" charset="0"/>
            </a:endParaRPr>
          </a:p>
        </p:txBody>
      </p:sp>
      <p:sp>
        <p:nvSpPr>
          <p:cNvPr id="7" name="Text 5"/>
          <p:cNvSpPr/>
          <p:nvPr/>
        </p:nvSpPr>
        <p:spPr>
          <a:xfrm>
            <a:off x="793790" y="6459260"/>
            <a:ext cx="3402330" cy="425291"/>
          </a:xfrm>
          <a:prstGeom prst="rect">
            <a:avLst/>
          </a:prstGeom>
          <a:noFill/>
          <a:ln/>
        </p:spPr>
        <p:txBody>
          <a:bodyPr wrap="none" lIns="0" tIns="0" rIns="0" bIns="0" rtlCol="0" anchor="t"/>
          <a:lstStyle/>
          <a:p>
            <a:pPr marL="0" indent="0" algn="l">
              <a:lnSpc>
                <a:spcPts val="3300"/>
              </a:lnSpc>
              <a:buNone/>
            </a:pPr>
            <a:endParaRPr lang="en-US" sz="2650" dirty="0">
              <a:latin typeface="Aptos" panose="020B0004020202020204" pitchFamily="34" charset="0"/>
            </a:endParaRPr>
          </a:p>
        </p:txBody>
      </p:sp>
      <p:sp>
        <p:nvSpPr>
          <p:cNvPr id="8" name="Text 6"/>
          <p:cNvSpPr/>
          <p:nvPr/>
        </p:nvSpPr>
        <p:spPr>
          <a:xfrm>
            <a:off x="8959096" y="3542228"/>
            <a:ext cx="3402330" cy="425291"/>
          </a:xfrm>
          <a:prstGeom prst="rect">
            <a:avLst/>
          </a:prstGeom>
          <a:noFill/>
          <a:ln/>
        </p:spPr>
        <p:txBody>
          <a:bodyPr wrap="none" lIns="0" tIns="0" rIns="0" bIns="0" rtlCol="0" anchor="t"/>
          <a:lstStyle/>
          <a:p>
            <a:pPr marL="0" indent="0" algn="l">
              <a:lnSpc>
                <a:spcPts val="3300"/>
              </a:lnSpc>
              <a:buNone/>
            </a:pPr>
            <a:r>
              <a:rPr lang="en-US" sz="2650" b="1" dirty="0">
                <a:solidFill>
                  <a:srgbClr val="161613"/>
                </a:solidFill>
                <a:latin typeface="Aptos" panose="020B0004020202020204" pitchFamily="34" charset="0"/>
                <a:ea typeface="DM Sans Medium" pitchFamily="34" charset="-122"/>
                <a:cs typeface="DM Sans Medium" pitchFamily="34" charset="-120"/>
              </a:rPr>
              <a:t>Key Features:</a:t>
            </a:r>
            <a:endParaRPr lang="en-US" sz="2650" dirty="0">
              <a:latin typeface="Aptos" panose="020B0004020202020204" pitchFamily="34" charset="0"/>
            </a:endParaRPr>
          </a:p>
        </p:txBody>
      </p:sp>
      <p:sp>
        <p:nvSpPr>
          <p:cNvPr id="9" name="Text 7"/>
          <p:cNvSpPr/>
          <p:nvPr/>
        </p:nvSpPr>
        <p:spPr>
          <a:xfrm>
            <a:off x="8959096" y="4194334"/>
            <a:ext cx="4885015" cy="1689497"/>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161613"/>
                </a:solidFill>
                <a:latin typeface="Aptos" panose="020B0004020202020204" pitchFamily="34" charset="0"/>
                <a:ea typeface="Inter" pitchFamily="34" charset="-122"/>
                <a:cs typeface="Inter" pitchFamily="34" charset="-120"/>
              </a:rPr>
              <a:t>Fast response to user input</a:t>
            </a:r>
            <a:endParaRPr lang="en-US" sz="1750" dirty="0">
              <a:latin typeface="Aptos" panose="020B0004020202020204" pitchFamily="34" charset="0"/>
            </a:endParaRPr>
          </a:p>
          <a:p>
            <a:pPr marL="342900" indent="-342900" algn="l">
              <a:lnSpc>
                <a:spcPts val="2850"/>
              </a:lnSpc>
              <a:buSzPct val="100000"/>
              <a:buChar char="•"/>
            </a:pPr>
            <a:r>
              <a:rPr lang="en-US" sz="1750" dirty="0">
                <a:solidFill>
                  <a:srgbClr val="161613"/>
                </a:solidFill>
                <a:latin typeface="Aptos" panose="020B0004020202020204" pitchFamily="34" charset="0"/>
                <a:ea typeface="Inter" pitchFamily="34" charset="-122"/>
                <a:cs typeface="Inter" pitchFamily="34" charset="-120"/>
              </a:rPr>
              <a:t>Efficient CPU usage (no polling loop)</a:t>
            </a:r>
            <a:endParaRPr lang="en-US" sz="1750" dirty="0">
              <a:latin typeface="Aptos" panose="020B0004020202020204" pitchFamily="34" charset="0"/>
            </a:endParaRPr>
          </a:p>
          <a:p>
            <a:pPr marL="342900" indent="-342900" algn="l">
              <a:lnSpc>
                <a:spcPts val="2850"/>
              </a:lnSpc>
              <a:buSzPct val="100000"/>
              <a:buChar char="•"/>
            </a:pPr>
            <a:r>
              <a:rPr lang="en-US" sz="1750" dirty="0">
                <a:solidFill>
                  <a:srgbClr val="161613"/>
                </a:solidFill>
                <a:latin typeface="Aptos" panose="020B0004020202020204" pitchFamily="34" charset="0"/>
                <a:ea typeface="Inter" pitchFamily="34" charset="-122"/>
                <a:cs typeface="Inter" pitchFamily="34" charset="-120"/>
              </a:rPr>
              <a:t>Simple and reliable control mechanism</a:t>
            </a:r>
            <a:endParaRPr lang="en-US" sz="1750" dirty="0">
              <a:latin typeface="Aptos" panose="020B0004020202020204" pitchFamily="34" charset="0"/>
            </a:endParaRPr>
          </a:p>
          <a:p>
            <a:pPr marL="342900" indent="-342900" algn="l">
              <a:lnSpc>
                <a:spcPts val="2850"/>
              </a:lnSpc>
              <a:buSzPct val="100000"/>
              <a:buChar char="•"/>
            </a:pPr>
            <a:r>
              <a:rPr lang="en-US" sz="1750" dirty="0">
                <a:solidFill>
                  <a:srgbClr val="161613"/>
                </a:solidFill>
                <a:latin typeface="Aptos" panose="020B0004020202020204" pitchFamily="34" charset="0"/>
                <a:ea typeface="Inter" pitchFamily="34" charset="-122"/>
                <a:cs typeface="Inter" pitchFamily="34" charset="-120"/>
              </a:rPr>
              <a:t>Debounce handled using software delay</a:t>
            </a:r>
            <a:endParaRPr lang="en-US" sz="1750" dirty="0">
              <a:latin typeface="Aptos" panose="020B0004020202020204" pitchFamily="34"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showMasterSp="0">
  <p:cSld name="Slide 7">
    <p:spTree>
      <p:nvGrpSpPr>
        <p:cNvPr id="1" name=""/>
        <p:cNvGrpSpPr/>
        <p:nvPr/>
      </p:nvGrpSpPr>
      <p:grpSpPr>
        <a:xfrm>
          <a:off x="0" y="0"/>
          <a:ext cx="0" cy="0"/>
          <a:chOff x="0" y="0"/>
          <a:chExt cx="0" cy="0"/>
        </a:xfrm>
      </p:grpSpPr>
      <p:sp>
        <p:nvSpPr>
          <p:cNvPr id="2" name="Text 0"/>
          <p:cNvSpPr/>
          <p:nvPr/>
        </p:nvSpPr>
        <p:spPr>
          <a:xfrm>
            <a:off x="694611" y="548997"/>
            <a:ext cx="7616071" cy="620078"/>
          </a:xfrm>
          <a:prstGeom prst="rect">
            <a:avLst/>
          </a:prstGeom>
          <a:noFill/>
          <a:ln/>
        </p:spPr>
        <p:txBody>
          <a:bodyPr wrap="none" lIns="0" tIns="0" rIns="0" bIns="0" rtlCol="0" anchor="t"/>
          <a:lstStyle/>
          <a:p>
            <a:pPr marL="0" indent="0" algn="l">
              <a:lnSpc>
                <a:spcPts val="4850"/>
              </a:lnSpc>
              <a:buNone/>
            </a:pPr>
            <a:r>
              <a:rPr lang="en-US" sz="3900" dirty="0">
                <a:solidFill>
                  <a:srgbClr val="161613"/>
                </a:solidFill>
                <a:latin typeface="Aptos" panose="020B0004020202020204" pitchFamily="34" charset="0"/>
                <a:ea typeface="DM Sans Medium" pitchFamily="34" charset="-122"/>
                <a:cs typeface="DM Sans Medium" pitchFamily="34" charset="-120"/>
              </a:rPr>
              <a:t>Heart Rate &amp; SpO₂ Measurement</a:t>
            </a:r>
            <a:endParaRPr lang="en-US" sz="3900" dirty="0">
              <a:latin typeface="Aptos" panose="020B0004020202020204" pitchFamily="34" charset="0"/>
            </a:endParaRPr>
          </a:p>
        </p:txBody>
      </p:sp>
      <p:sp>
        <p:nvSpPr>
          <p:cNvPr id="3" name="Text 1"/>
          <p:cNvSpPr/>
          <p:nvPr/>
        </p:nvSpPr>
        <p:spPr>
          <a:xfrm>
            <a:off x="694611" y="1516380"/>
            <a:ext cx="13241179" cy="297656"/>
          </a:xfrm>
          <a:prstGeom prst="rect">
            <a:avLst/>
          </a:prstGeom>
          <a:noFill/>
          <a:ln/>
        </p:spPr>
        <p:txBody>
          <a:bodyPr wrap="none" lIns="0" tIns="0" rIns="0" bIns="0" rtlCol="0" anchor="t"/>
          <a:lstStyle/>
          <a:p>
            <a:pPr marL="0" indent="0" algn="l">
              <a:lnSpc>
                <a:spcPts val="2300"/>
              </a:lnSpc>
              <a:buNone/>
            </a:pPr>
            <a:r>
              <a:rPr lang="en-US" sz="1550" dirty="0">
                <a:solidFill>
                  <a:srgbClr val="161613"/>
                </a:solidFill>
                <a:latin typeface="Aptos" panose="020B0004020202020204" pitchFamily="34" charset="0"/>
                <a:ea typeface="Inter" pitchFamily="34" charset="-122"/>
                <a:cs typeface="Inter" pitchFamily="34" charset="-120"/>
              </a:rPr>
              <a:t>The MAX30100 uses photoplethysmography (PPG) to measure blood volume changes by emitting infrared and red light through tissue.</a:t>
            </a:r>
            <a:endParaRPr lang="en-US" sz="1550" dirty="0">
              <a:latin typeface="Aptos" panose="020B0004020202020204" pitchFamily="34" charset="0"/>
            </a:endParaRPr>
          </a:p>
        </p:txBody>
      </p:sp>
      <p:pic>
        <p:nvPicPr>
          <p:cNvPr id="4" name="Image 0" descr="preencoded.png"/>
          <p:cNvPicPr>
            <a:picLocks noChangeAspect="1"/>
          </p:cNvPicPr>
          <p:nvPr/>
        </p:nvPicPr>
        <p:blipFill>
          <a:blip r:embed="rId3"/>
          <a:stretch>
            <a:fillRect/>
          </a:stretch>
        </p:blipFill>
        <p:spPr>
          <a:xfrm>
            <a:off x="694611" y="2009299"/>
            <a:ext cx="6620589" cy="793790"/>
          </a:xfrm>
          <a:prstGeom prst="rect">
            <a:avLst/>
          </a:prstGeom>
        </p:spPr>
      </p:pic>
      <p:sp>
        <p:nvSpPr>
          <p:cNvPr id="5" name="Text 2"/>
          <p:cNvSpPr/>
          <p:nvPr/>
        </p:nvSpPr>
        <p:spPr>
          <a:xfrm>
            <a:off x="892969" y="2976682"/>
            <a:ext cx="2480905" cy="310158"/>
          </a:xfrm>
          <a:prstGeom prst="rect">
            <a:avLst/>
          </a:prstGeom>
          <a:noFill/>
          <a:ln/>
        </p:spPr>
        <p:txBody>
          <a:bodyPr wrap="none" lIns="0" tIns="0" rIns="0" bIns="0" rtlCol="0" anchor="t"/>
          <a:lstStyle/>
          <a:p>
            <a:pPr marL="0" indent="0" algn="l">
              <a:lnSpc>
                <a:spcPts val="2400"/>
              </a:lnSpc>
              <a:buNone/>
            </a:pPr>
            <a:r>
              <a:rPr lang="en-US" sz="1950" b="1" dirty="0">
                <a:solidFill>
                  <a:srgbClr val="161613"/>
                </a:solidFill>
                <a:latin typeface="Aptos" panose="020B0004020202020204" pitchFamily="34" charset="0"/>
                <a:ea typeface="DM Sans Medium" pitchFamily="34" charset="-122"/>
                <a:cs typeface="DM Sans Medium" pitchFamily="34" charset="-120"/>
              </a:rPr>
              <a:t>Signal Acquisition</a:t>
            </a:r>
            <a:endParaRPr lang="en-US" sz="1950" dirty="0">
              <a:latin typeface="Aptos" panose="020B0004020202020204" pitchFamily="34" charset="0"/>
            </a:endParaRPr>
          </a:p>
        </p:txBody>
      </p:sp>
      <p:sp>
        <p:nvSpPr>
          <p:cNvPr id="6" name="Text 3"/>
          <p:cNvSpPr/>
          <p:nvPr/>
        </p:nvSpPr>
        <p:spPr>
          <a:xfrm>
            <a:off x="892969" y="3391019"/>
            <a:ext cx="6223873" cy="1014413"/>
          </a:xfrm>
          <a:prstGeom prst="rect">
            <a:avLst/>
          </a:prstGeom>
          <a:noFill/>
          <a:ln/>
        </p:spPr>
        <p:txBody>
          <a:bodyPr wrap="square" lIns="0" tIns="0" rIns="0" bIns="0" rtlCol="0" anchor="t"/>
          <a:lstStyle/>
          <a:p>
            <a:pPr marL="342900" indent="-342900" algn="l">
              <a:lnSpc>
                <a:spcPts val="2300"/>
              </a:lnSpc>
              <a:buSzPct val="100000"/>
              <a:buChar char="•"/>
            </a:pPr>
            <a:r>
              <a:rPr lang="en-US" sz="1550" dirty="0">
                <a:solidFill>
                  <a:srgbClr val="161613"/>
                </a:solidFill>
                <a:latin typeface="Aptos" panose="020B0004020202020204" pitchFamily="34" charset="0"/>
                <a:ea typeface="Inter" pitchFamily="34" charset="-122"/>
                <a:cs typeface="Inter" pitchFamily="34" charset="-120"/>
              </a:rPr>
              <a:t>IR and Red LEDs emit light into tissue</a:t>
            </a:r>
            <a:endParaRPr lang="en-US" sz="1550" dirty="0">
              <a:latin typeface="Aptos" panose="020B0004020202020204" pitchFamily="34" charset="0"/>
            </a:endParaRPr>
          </a:p>
          <a:p>
            <a:pPr marL="342900" indent="-342900" algn="l">
              <a:lnSpc>
                <a:spcPts val="2300"/>
              </a:lnSpc>
              <a:buSzPct val="100000"/>
              <a:buChar char="•"/>
            </a:pPr>
            <a:r>
              <a:rPr lang="en-US" sz="1550" dirty="0">
                <a:solidFill>
                  <a:srgbClr val="161613"/>
                </a:solidFill>
                <a:latin typeface="Aptos" panose="020B0004020202020204" pitchFamily="34" charset="0"/>
                <a:ea typeface="Inter" pitchFamily="34" charset="-122"/>
                <a:cs typeface="Inter" pitchFamily="34" charset="-120"/>
              </a:rPr>
              <a:t>Reflected light intensity varies with blood flow</a:t>
            </a:r>
            <a:endParaRPr lang="en-US" sz="1550" dirty="0">
              <a:latin typeface="Aptos" panose="020B0004020202020204" pitchFamily="34" charset="0"/>
            </a:endParaRPr>
          </a:p>
          <a:p>
            <a:pPr marL="342900" indent="-342900" algn="l">
              <a:lnSpc>
                <a:spcPts val="2300"/>
              </a:lnSpc>
              <a:buSzPct val="100000"/>
              <a:buChar char="•"/>
            </a:pPr>
            <a:r>
              <a:rPr lang="en-US" sz="1550" dirty="0">
                <a:solidFill>
                  <a:srgbClr val="161613"/>
                </a:solidFill>
                <a:latin typeface="Aptos" panose="020B0004020202020204" pitchFamily="34" charset="0"/>
                <a:ea typeface="Inter" pitchFamily="34" charset="-122"/>
                <a:cs typeface="Inter" pitchFamily="34" charset="-120"/>
              </a:rPr>
              <a:t>Sensor provides digital IR and Red values via I2C</a:t>
            </a:r>
            <a:endParaRPr lang="en-US" sz="1550" dirty="0">
              <a:latin typeface="Aptos" panose="020B0004020202020204" pitchFamily="34" charset="0"/>
            </a:endParaRPr>
          </a:p>
        </p:txBody>
      </p:sp>
      <p:pic>
        <p:nvPicPr>
          <p:cNvPr id="7" name="Image 1" descr="preencoded.png"/>
          <p:cNvPicPr>
            <a:picLocks noChangeAspect="1"/>
          </p:cNvPicPr>
          <p:nvPr/>
        </p:nvPicPr>
        <p:blipFill>
          <a:blip r:embed="rId4"/>
          <a:stretch>
            <a:fillRect/>
          </a:stretch>
        </p:blipFill>
        <p:spPr>
          <a:xfrm>
            <a:off x="7315200" y="2009299"/>
            <a:ext cx="6620589" cy="793790"/>
          </a:xfrm>
          <a:prstGeom prst="rect">
            <a:avLst/>
          </a:prstGeom>
        </p:spPr>
      </p:pic>
      <p:sp>
        <p:nvSpPr>
          <p:cNvPr id="8" name="Text 4"/>
          <p:cNvSpPr/>
          <p:nvPr/>
        </p:nvSpPr>
        <p:spPr>
          <a:xfrm>
            <a:off x="7513558" y="2976682"/>
            <a:ext cx="4615696" cy="372070"/>
          </a:xfrm>
          <a:prstGeom prst="rect">
            <a:avLst/>
          </a:prstGeom>
          <a:noFill/>
          <a:ln/>
        </p:spPr>
        <p:txBody>
          <a:bodyPr wrap="none" lIns="0" tIns="0" rIns="0" bIns="0" rtlCol="0" anchor="t"/>
          <a:lstStyle/>
          <a:p>
            <a:pPr marL="0" indent="0" algn="l">
              <a:lnSpc>
                <a:spcPts val="2900"/>
              </a:lnSpc>
              <a:buNone/>
            </a:pPr>
            <a:r>
              <a:rPr lang="en-US" sz="2300" b="1" dirty="0">
                <a:solidFill>
                  <a:srgbClr val="161613"/>
                </a:solidFill>
                <a:latin typeface="Aptos" panose="020B0004020202020204" pitchFamily="34" charset="0"/>
                <a:ea typeface="DM Sans Medium" pitchFamily="34" charset="-122"/>
                <a:cs typeface="DM Sans Medium" pitchFamily="34" charset="-120"/>
              </a:rPr>
              <a:t>DC &amp; AC Component Extraction</a:t>
            </a:r>
            <a:endParaRPr lang="en-US" sz="2300" dirty="0">
              <a:latin typeface="Aptos" panose="020B0004020202020204" pitchFamily="34" charset="0"/>
            </a:endParaRPr>
          </a:p>
        </p:txBody>
      </p:sp>
      <p:sp>
        <p:nvSpPr>
          <p:cNvPr id="9" name="Text 5"/>
          <p:cNvSpPr/>
          <p:nvPr/>
        </p:nvSpPr>
        <p:spPr>
          <a:xfrm>
            <a:off x="7513558" y="3452932"/>
            <a:ext cx="6223873" cy="1014413"/>
          </a:xfrm>
          <a:prstGeom prst="rect">
            <a:avLst/>
          </a:prstGeom>
          <a:noFill/>
          <a:ln/>
        </p:spPr>
        <p:txBody>
          <a:bodyPr wrap="square" lIns="0" tIns="0" rIns="0" bIns="0" rtlCol="0" anchor="t"/>
          <a:lstStyle/>
          <a:p>
            <a:pPr marL="342900" indent="-342900" algn="l">
              <a:lnSpc>
                <a:spcPts val="2300"/>
              </a:lnSpc>
              <a:buSzPct val="100000"/>
              <a:buChar char="•"/>
            </a:pPr>
            <a:r>
              <a:rPr lang="en-US" sz="1550" dirty="0">
                <a:solidFill>
                  <a:srgbClr val="161613"/>
                </a:solidFill>
                <a:latin typeface="Aptos" panose="020B0004020202020204" pitchFamily="34" charset="0"/>
                <a:ea typeface="Inter" pitchFamily="34" charset="-122"/>
                <a:cs typeface="Inter" pitchFamily="34" charset="-120"/>
              </a:rPr>
              <a:t>DC component → baseline signal (average value)</a:t>
            </a:r>
            <a:endParaRPr lang="en-US" sz="1550" dirty="0">
              <a:latin typeface="Aptos" panose="020B0004020202020204" pitchFamily="34" charset="0"/>
            </a:endParaRPr>
          </a:p>
          <a:p>
            <a:pPr marL="342900" indent="-342900" algn="l">
              <a:lnSpc>
                <a:spcPts val="2300"/>
              </a:lnSpc>
              <a:buSzPct val="100000"/>
              <a:buChar char="•"/>
            </a:pPr>
            <a:r>
              <a:rPr lang="en-US" sz="1550" dirty="0">
                <a:solidFill>
                  <a:srgbClr val="161613"/>
                </a:solidFill>
                <a:latin typeface="Aptos" panose="020B0004020202020204" pitchFamily="34" charset="0"/>
                <a:ea typeface="Inter" pitchFamily="34" charset="-122"/>
                <a:cs typeface="Inter" pitchFamily="34" charset="-120"/>
              </a:rPr>
              <a:t>AC component → pulsatile part due to heartbeat</a:t>
            </a:r>
            <a:endParaRPr lang="en-US" sz="1550" dirty="0">
              <a:latin typeface="Aptos" panose="020B0004020202020204" pitchFamily="34" charset="0"/>
            </a:endParaRPr>
          </a:p>
          <a:p>
            <a:pPr marL="342900" indent="-342900" algn="l">
              <a:lnSpc>
                <a:spcPts val="2300"/>
              </a:lnSpc>
              <a:buSzPct val="100000"/>
              <a:buChar char="•"/>
            </a:pPr>
            <a:r>
              <a:rPr lang="en-US" sz="1550" dirty="0">
                <a:solidFill>
                  <a:srgbClr val="161613"/>
                </a:solidFill>
                <a:highlight>
                  <a:srgbClr val="ECEBE8"/>
                </a:highlight>
                <a:latin typeface="Aptos" panose="020B0004020202020204" pitchFamily="34" charset="0"/>
                <a:ea typeface="Consolas" pitchFamily="34" charset="-122"/>
                <a:cs typeface="Consolas" pitchFamily="34" charset="-120"/>
              </a:rPr>
              <a:t>AC = signal - DC</a:t>
            </a:r>
            <a:endParaRPr lang="en-US" sz="1550" dirty="0">
              <a:latin typeface="Aptos" panose="020B0004020202020204" pitchFamily="34" charset="0"/>
            </a:endParaRPr>
          </a:p>
        </p:txBody>
      </p:sp>
      <p:pic>
        <p:nvPicPr>
          <p:cNvPr id="10" name="Image 2" descr="preencoded.png"/>
          <p:cNvPicPr>
            <a:picLocks noChangeAspect="1"/>
          </p:cNvPicPr>
          <p:nvPr/>
        </p:nvPicPr>
        <p:blipFill>
          <a:blip r:embed="rId5"/>
          <a:stretch>
            <a:fillRect/>
          </a:stretch>
        </p:blipFill>
        <p:spPr>
          <a:xfrm>
            <a:off x="694611" y="4665702"/>
            <a:ext cx="6620589" cy="793790"/>
          </a:xfrm>
          <a:prstGeom prst="rect">
            <a:avLst/>
          </a:prstGeom>
        </p:spPr>
      </p:pic>
      <p:sp>
        <p:nvSpPr>
          <p:cNvPr id="11" name="Text 6"/>
          <p:cNvSpPr/>
          <p:nvPr/>
        </p:nvSpPr>
        <p:spPr>
          <a:xfrm>
            <a:off x="892969" y="5633085"/>
            <a:ext cx="3279458" cy="372070"/>
          </a:xfrm>
          <a:prstGeom prst="rect">
            <a:avLst/>
          </a:prstGeom>
          <a:noFill/>
          <a:ln/>
        </p:spPr>
        <p:txBody>
          <a:bodyPr wrap="none" lIns="0" tIns="0" rIns="0" bIns="0" rtlCol="0" anchor="t"/>
          <a:lstStyle/>
          <a:p>
            <a:pPr marL="0" indent="0" algn="l">
              <a:lnSpc>
                <a:spcPts val="2900"/>
              </a:lnSpc>
              <a:buNone/>
            </a:pPr>
            <a:r>
              <a:rPr lang="en-US" sz="2300" b="1" dirty="0">
                <a:solidFill>
                  <a:srgbClr val="161613"/>
                </a:solidFill>
                <a:latin typeface="Aptos" panose="020B0004020202020204" pitchFamily="34" charset="0"/>
                <a:ea typeface="DM Sans Medium" pitchFamily="34" charset="-122"/>
                <a:cs typeface="DM Sans Medium" pitchFamily="34" charset="-120"/>
              </a:rPr>
              <a:t>Heart Rate Calculation</a:t>
            </a:r>
            <a:endParaRPr lang="en-US" sz="2300" dirty="0">
              <a:latin typeface="Aptos" panose="020B0004020202020204" pitchFamily="34" charset="0"/>
            </a:endParaRPr>
          </a:p>
        </p:txBody>
      </p:sp>
      <p:sp>
        <p:nvSpPr>
          <p:cNvPr id="12" name="Text 7"/>
          <p:cNvSpPr/>
          <p:nvPr/>
        </p:nvSpPr>
        <p:spPr>
          <a:xfrm>
            <a:off x="892969" y="6109335"/>
            <a:ext cx="6223873" cy="1372791"/>
          </a:xfrm>
          <a:prstGeom prst="rect">
            <a:avLst/>
          </a:prstGeom>
          <a:noFill/>
          <a:ln/>
        </p:spPr>
        <p:txBody>
          <a:bodyPr wrap="square" lIns="0" tIns="0" rIns="0" bIns="0" rtlCol="0" anchor="t"/>
          <a:lstStyle/>
          <a:p>
            <a:pPr marL="342900" indent="-342900" algn="l">
              <a:lnSpc>
                <a:spcPts val="2300"/>
              </a:lnSpc>
              <a:buSzPct val="100000"/>
              <a:buChar char="•"/>
            </a:pPr>
            <a:r>
              <a:rPr lang="en-US" sz="1550" dirty="0">
                <a:solidFill>
                  <a:srgbClr val="161613"/>
                </a:solidFill>
                <a:latin typeface="Aptos" panose="020B0004020202020204" pitchFamily="34" charset="0"/>
                <a:ea typeface="Inter" pitchFamily="34" charset="-122"/>
                <a:cs typeface="Inter" pitchFamily="34" charset="-120"/>
              </a:rPr>
              <a:t>Peak detection applied on IR signal</a:t>
            </a:r>
            <a:endParaRPr lang="en-US" sz="1550" dirty="0">
              <a:latin typeface="Aptos" panose="020B0004020202020204" pitchFamily="34" charset="0"/>
            </a:endParaRPr>
          </a:p>
          <a:p>
            <a:pPr marL="342900" indent="-342900" algn="l">
              <a:lnSpc>
                <a:spcPts val="2300"/>
              </a:lnSpc>
              <a:buSzPct val="100000"/>
              <a:buChar char="•"/>
            </a:pPr>
            <a:r>
              <a:rPr lang="en-US" sz="1550" dirty="0">
                <a:solidFill>
                  <a:srgbClr val="161613"/>
                </a:solidFill>
                <a:latin typeface="Aptos" panose="020B0004020202020204" pitchFamily="34" charset="0"/>
                <a:ea typeface="Inter" pitchFamily="34" charset="-122"/>
                <a:cs typeface="Inter" pitchFamily="34" charset="-120"/>
              </a:rPr>
              <a:t>Time difference between peaks → BPM</a:t>
            </a:r>
            <a:endParaRPr lang="en-US" sz="1550" dirty="0">
              <a:latin typeface="Aptos" panose="020B0004020202020204" pitchFamily="34" charset="0"/>
            </a:endParaRPr>
          </a:p>
          <a:p>
            <a:pPr marL="342900" indent="-342900" algn="l">
              <a:lnSpc>
                <a:spcPts val="2300"/>
              </a:lnSpc>
              <a:buSzPct val="100000"/>
              <a:buChar char="•"/>
            </a:pPr>
            <a:r>
              <a:rPr lang="en-US" sz="1550" dirty="0">
                <a:solidFill>
                  <a:srgbClr val="161613"/>
                </a:solidFill>
                <a:highlight>
                  <a:srgbClr val="ECEBE8"/>
                </a:highlight>
                <a:latin typeface="Aptos" panose="020B0004020202020204" pitchFamily="34" charset="0"/>
                <a:ea typeface="Consolas" pitchFamily="34" charset="-122"/>
                <a:cs typeface="Consolas" pitchFamily="34" charset="-120"/>
              </a:rPr>
              <a:t>BPM = 60000 / Δt</a:t>
            </a:r>
            <a:endParaRPr lang="en-US" sz="1550" dirty="0">
              <a:latin typeface="Aptos" panose="020B0004020202020204" pitchFamily="34" charset="0"/>
            </a:endParaRPr>
          </a:p>
          <a:p>
            <a:pPr marL="342900" indent="-342900" algn="l">
              <a:lnSpc>
                <a:spcPts val="2300"/>
              </a:lnSpc>
              <a:buSzPct val="100000"/>
              <a:buChar char="•"/>
            </a:pPr>
            <a:r>
              <a:rPr lang="en-US" sz="1550" dirty="0">
                <a:solidFill>
                  <a:srgbClr val="161613"/>
                </a:solidFill>
                <a:latin typeface="Aptos" panose="020B0004020202020204" pitchFamily="34" charset="0"/>
                <a:ea typeface="Inter" pitchFamily="34" charset="-122"/>
                <a:cs typeface="Inter" pitchFamily="34" charset="-120"/>
              </a:rPr>
              <a:t>Averaging used to stabilize readings</a:t>
            </a:r>
            <a:endParaRPr lang="en-US" sz="1550" dirty="0">
              <a:latin typeface="Aptos" panose="020B0004020202020204" pitchFamily="34" charset="0"/>
            </a:endParaRPr>
          </a:p>
        </p:txBody>
      </p:sp>
      <p:pic>
        <p:nvPicPr>
          <p:cNvPr id="13" name="Image 3" descr="preencoded.png"/>
          <p:cNvPicPr>
            <a:picLocks noChangeAspect="1"/>
          </p:cNvPicPr>
          <p:nvPr/>
        </p:nvPicPr>
        <p:blipFill>
          <a:blip r:embed="rId6"/>
          <a:stretch>
            <a:fillRect/>
          </a:stretch>
        </p:blipFill>
        <p:spPr>
          <a:xfrm>
            <a:off x="7315200" y="4665702"/>
            <a:ext cx="6620589" cy="793790"/>
          </a:xfrm>
          <a:prstGeom prst="rect">
            <a:avLst/>
          </a:prstGeom>
        </p:spPr>
      </p:pic>
      <p:sp>
        <p:nvSpPr>
          <p:cNvPr id="14" name="Text 8"/>
          <p:cNvSpPr/>
          <p:nvPr/>
        </p:nvSpPr>
        <p:spPr>
          <a:xfrm>
            <a:off x="7513558" y="5633085"/>
            <a:ext cx="2977039" cy="372070"/>
          </a:xfrm>
          <a:prstGeom prst="rect">
            <a:avLst/>
          </a:prstGeom>
          <a:noFill/>
          <a:ln/>
        </p:spPr>
        <p:txBody>
          <a:bodyPr wrap="none" lIns="0" tIns="0" rIns="0" bIns="0" rtlCol="0" anchor="t"/>
          <a:lstStyle/>
          <a:p>
            <a:pPr marL="0" indent="0" algn="l">
              <a:lnSpc>
                <a:spcPts val="2900"/>
              </a:lnSpc>
              <a:buNone/>
            </a:pPr>
            <a:r>
              <a:rPr lang="en-US" sz="2300" b="1" dirty="0">
                <a:solidFill>
                  <a:srgbClr val="161613"/>
                </a:solidFill>
                <a:latin typeface="Aptos" panose="020B0004020202020204" pitchFamily="34" charset="0"/>
                <a:ea typeface="DM Sans Medium" pitchFamily="34" charset="-122"/>
                <a:cs typeface="DM Sans Medium" pitchFamily="34" charset="-120"/>
              </a:rPr>
              <a:t>SpO₂ Calculation</a:t>
            </a:r>
            <a:endParaRPr lang="en-US" sz="2300" dirty="0">
              <a:latin typeface="Aptos" panose="020B0004020202020204" pitchFamily="34" charset="0"/>
            </a:endParaRPr>
          </a:p>
        </p:txBody>
      </p:sp>
      <p:sp>
        <p:nvSpPr>
          <p:cNvPr id="15" name="Text 9"/>
          <p:cNvSpPr/>
          <p:nvPr/>
        </p:nvSpPr>
        <p:spPr>
          <a:xfrm>
            <a:off x="7513558" y="6109335"/>
            <a:ext cx="6223873" cy="1372791"/>
          </a:xfrm>
          <a:prstGeom prst="rect">
            <a:avLst/>
          </a:prstGeom>
          <a:noFill/>
          <a:ln/>
        </p:spPr>
        <p:txBody>
          <a:bodyPr wrap="square" lIns="0" tIns="0" rIns="0" bIns="0" rtlCol="0" anchor="t"/>
          <a:lstStyle/>
          <a:p>
            <a:pPr marL="342900" indent="-342900" algn="l">
              <a:lnSpc>
                <a:spcPts val="2300"/>
              </a:lnSpc>
              <a:buSzPct val="100000"/>
              <a:buChar char="•"/>
            </a:pPr>
            <a:r>
              <a:rPr lang="en-US" sz="1550" dirty="0">
                <a:solidFill>
                  <a:srgbClr val="161613"/>
                </a:solidFill>
                <a:latin typeface="Aptos" panose="020B0004020202020204" pitchFamily="34" charset="0"/>
                <a:ea typeface="Inter" pitchFamily="34" charset="-122"/>
                <a:cs typeface="Inter" pitchFamily="34" charset="-120"/>
              </a:rPr>
              <a:t>Ratio of Red and IR signals is computed</a:t>
            </a:r>
            <a:endParaRPr lang="en-US" sz="1550" dirty="0">
              <a:latin typeface="Aptos" panose="020B0004020202020204" pitchFamily="34" charset="0"/>
            </a:endParaRPr>
          </a:p>
          <a:p>
            <a:pPr marL="342900" indent="-342900" algn="l">
              <a:lnSpc>
                <a:spcPts val="2300"/>
              </a:lnSpc>
              <a:buSzPct val="100000"/>
              <a:buChar char="•"/>
            </a:pPr>
            <a:r>
              <a:rPr lang="en-US" sz="1550" dirty="0">
                <a:solidFill>
                  <a:srgbClr val="161613"/>
                </a:solidFill>
                <a:highlight>
                  <a:srgbClr val="ECEBE8"/>
                </a:highlight>
                <a:latin typeface="Aptos" panose="020B0004020202020204" pitchFamily="34" charset="0"/>
                <a:ea typeface="Consolas" pitchFamily="34" charset="-122"/>
                <a:cs typeface="Consolas" pitchFamily="34" charset="-120"/>
              </a:rPr>
              <a:t>R = (AC_red / DC_red) / (AC_ir / DC_ir)</a:t>
            </a:r>
            <a:endParaRPr lang="en-US" sz="1550" dirty="0">
              <a:latin typeface="Aptos" panose="020B0004020202020204" pitchFamily="34" charset="0"/>
            </a:endParaRPr>
          </a:p>
          <a:p>
            <a:pPr marL="342900" indent="-342900" algn="l">
              <a:lnSpc>
                <a:spcPts val="2300"/>
              </a:lnSpc>
              <a:buSzPct val="100000"/>
              <a:buChar char="•"/>
            </a:pPr>
            <a:r>
              <a:rPr lang="en-US" sz="1550" dirty="0">
                <a:solidFill>
                  <a:srgbClr val="161613"/>
                </a:solidFill>
                <a:latin typeface="Aptos" panose="020B0004020202020204" pitchFamily="34" charset="0"/>
                <a:ea typeface="Inter" pitchFamily="34" charset="-122"/>
                <a:cs typeface="Inter" pitchFamily="34" charset="-120"/>
              </a:rPr>
              <a:t>SpO₂ estimated using empirical relation</a:t>
            </a:r>
            <a:endParaRPr lang="en-US" sz="1550" dirty="0">
              <a:latin typeface="Aptos" panose="020B0004020202020204" pitchFamily="34" charset="0"/>
            </a:endParaRPr>
          </a:p>
          <a:p>
            <a:pPr marL="342900" indent="-342900" algn="l">
              <a:lnSpc>
                <a:spcPts val="2300"/>
              </a:lnSpc>
              <a:buSzPct val="100000"/>
              <a:buChar char="•"/>
            </a:pPr>
            <a:r>
              <a:rPr lang="en-US" sz="1550" dirty="0">
                <a:solidFill>
                  <a:srgbClr val="161613"/>
                </a:solidFill>
                <a:highlight>
                  <a:srgbClr val="ECEBE8"/>
                </a:highlight>
                <a:latin typeface="Aptos" panose="020B0004020202020204" pitchFamily="34" charset="0"/>
                <a:ea typeface="Consolas" pitchFamily="34" charset="-122"/>
                <a:cs typeface="Consolas" pitchFamily="34" charset="-120"/>
              </a:rPr>
              <a:t>SpO₂ ≈ 110 - 25 × R</a:t>
            </a:r>
            <a:endParaRPr lang="en-US" sz="1550" dirty="0">
              <a:latin typeface="Aptos" panose="020B0004020202020204" pitchFamily="34"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MasterSp="0">
  <p:cSld name="Slide 8">
    <p:spTree>
      <p:nvGrpSpPr>
        <p:cNvPr id="1" name=""/>
        <p:cNvGrpSpPr/>
        <p:nvPr/>
      </p:nvGrpSpPr>
      <p:grpSpPr>
        <a:xfrm>
          <a:off x="0" y="0"/>
          <a:ext cx="0" cy="0"/>
          <a:chOff x="0" y="0"/>
          <a:chExt cx="0" cy="0"/>
        </a:xfrm>
      </p:grpSpPr>
      <p:sp>
        <p:nvSpPr>
          <p:cNvPr id="2" name="Text 0"/>
          <p:cNvSpPr/>
          <p:nvPr/>
        </p:nvSpPr>
        <p:spPr>
          <a:xfrm>
            <a:off x="769025" y="676870"/>
            <a:ext cx="5493425" cy="686633"/>
          </a:xfrm>
          <a:prstGeom prst="rect">
            <a:avLst/>
          </a:prstGeom>
          <a:noFill/>
          <a:ln/>
        </p:spPr>
        <p:txBody>
          <a:bodyPr wrap="none" lIns="0" tIns="0" rIns="0" bIns="0" rtlCol="0" anchor="t"/>
          <a:lstStyle/>
          <a:p>
            <a:pPr marL="0" indent="0" algn="l">
              <a:lnSpc>
                <a:spcPts val="5400"/>
              </a:lnSpc>
              <a:buNone/>
            </a:pPr>
            <a:r>
              <a:rPr lang="en-US" sz="4300" dirty="0">
                <a:solidFill>
                  <a:srgbClr val="161613"/>
                </a:solidFill>
                <a:latin typeface="Aptos" panose="020B0004020202020204" pitchFamily="34" charset="0"/>
                <a:ea typeface="DM Sans Medium" pitchFamily="34" charset="-122"/>
                <a:cs typeface="DM Sans Medium" pitchFamily="34" charset="-120"/>
              </a:rPr>
              <a:t>Fall Detection Logic</a:t>
            </a:r>
            <a:endParaRPr lang="en-US" sz="4300" dirty="0">
              <a:latin typeface="Aptos" panose="020B0004020202020204" pitchFamily="34" charset="0"/>
            </a:endParaRPr>
          </a:p>
        </p:txBody>
      </p:sp>
      <p:sp>
        <p:nvSpPr>
          <p:cNvPr id="3" name="Text 1"/>
          <p:cNvSpPr/>
          <p:nvPr/>
        </p:nvSpPr>
        <p:spPr>
          <a:xfrm>
            <a:off x="769025" y="1682710"/>
            <a:ext cx="13092351" cy="346115"/>
          </a:xfrm>
          <a:prstGeom prst="rect">
            <a:avLst/>
          </a:prstGeom>
          <a:noFill/>
          <a:ln/>
        </p:spPr>
        <p:txBody>
          <a:bodyPr wrap="none" lIns="0" tIns="0" rIns="0" bIns="0" rtlCol="0" anchor="t"/>
          <a:lstStyle/>
          <a:p>
            <a:pPr marL="0" indent="0" algn="l">
              <a:lnSpc>
                <a:spcPts val="2700"/>
              </a:lnSpc>
              <a:buNone/>
            </a:pPr>
            <a:r>
              <a:rPr lang="en-US" sz="1700" dirty="0">
                <a:solidFill>
                  <a:srgbClr val="161613"/>
                </a:solidFill>
                <a:latin typeface="Aptos" panose="020B0004020202020204" pitchFamily="34" charset="0"/>
                <a:ea typeface="Inter" pitchFamily="34" charset="-122"/>
                <a:cs typeface="Inter" pitchFamily="34" charset="-120"/>
              </a:rPr>
              <a:t>The MPU6050 monitors acceleration (Z-axis) and detects fall using threshold-based logic.</a:t>
            </a:r>
            <a:endParaRPr lang="en-US" sz="1700" dirty="0">
              <a:latin typeface="Aptos" panose="020B0004020202020204" pitchFamily="34" charset="0"/>
            </a:endParaRPr>
          </a:p>
        </p:txBody>
      </p:sp>
      <p:sp>
        <p:nvSpPr>
          <p:cNvPr id="4" name="Shape 2"/>
          <p:cNvSpPr/>
          <p:nvPr/>
        </p:nvSpPr>
        <p:spPr>
          <a:xfrm>
            <a:off x="1016198" y="2268260"/>
            <a:ext cx="30480" cy="5284351"/>
          </a:xfrm>
          <a:prstGeom prst="roundRect">
            <a:avLst>
              <a:gd name="adj" fmla="val 108139"/>
            </a:avLst>
          </a:prstGeom>
          <a:solidFill>
            <a:srgbClr val="D3D1C9"/>
          </a:solidFill>
          <a:ln/>
        </p:spPr>
      </p:sp>
      <p:sp>
        <p:nvSpPr>
          <p:cNvPr id="5" name="Shape 3"/>
          <p:cNvSpPr/>
          <p:nvPr/>
        </p:nvSpPr>
        <p:spPr>
          <a:xfrm>
            <a:off x="1232892" y="2500193"/>
            <a:ext cx="659130" cy="30480"/>
          </a:xfrm>
          <a:prstGeom prst="roundRect">
            <a:avLst>
              <a:gd name="adj" fmla="val 108139"/>
            </a:avLst>
          </a:prstGeom>
          <a:solidFill>
            <a:srgbClr val="D3D1C9"/>
          </a:solidFill>
          <a:ln/>
        </p:spPr>
      </p:sp>
      <p:sp>
        <p:nvSpPr>
          <p:cNvPr id="6" name="Shape 4"/>
          <p:cNvSpPr/>
          <p:nvPr/>
        </p:nvSpPr>
        <p:spPr>
          <a:xfrm>
            <a:off x="769025" y="2268260"/>
            <a:ext cx="494348" cy="494348"/>
          </a:xfrm>
          <a:prstGeom prst="roundRect">
            <a:avLst>
              <a:gd name="adj" fmla="val 6668"/>
            </a:avLst>
          </a:prstGeom>
          <a:solidFill>
            <a:srgbClr val="EDEBE3"/>
          </a:solidFill>
          <a:ln/>
        </p:spPr>
      </p:sp>
      <p:sp>
        <p:nvSpPr>
          <p:cNvPr id="7" name="Text 5"/>
          <p:cNvSpPr/>
          <p:nvPr/>
        </p:nvSpPr>
        <p:spPr>
          <a:xfrm>
            <a:off x="851416" y="2309455"/>
            <a:ext cx="329565" cy="411956"/>
          </a:xfrm>
          <a:prstGeom prst="rect">
            <a:avLst/>
          </a:prstGeom>
          <a:noFill/>
          <a:ln/>
        </p:spPr>
        <p:txBody>
          <a:bodyPr wrap="none" lIns="0" tIns="0" rIns="0" bIns="0" rtlCol="0" anchor="t"/>
          <a:lstStyle/>
          <a:p>
            <a:pPr marL="0" indent="0" algn="ctr">
              <a:lnSpc>
                <a:spcPts val="2550"/>
              </a:lnSpc>
              <a:buNone/>
            </a:pPr>
            <a:r>
              <a:rPr lang="en-US" sz="2550" dirty="0">
                <a:solidFill>
                  <a:srgbClr val="161613"/>
                </a:solidFill>
                <a:latin typeface="Aptos" panose="020B0004020202020204" pitchFamily="34" charset="0"/>
                <a:ea typeface="DM Sans Medium" pitchFamily="34" charset="-122"/>
                <a:cs typeface="DM Sans Medium" pitchFamily="34" charset="-120"/>
              </a:rPr>
              <a:t>1</a:t>
            </a:r>
            <a:endParaRPr lang="en-US" sz="2550" dirty="0">
              <a:latin typeface="Aptos" panose="020B0004020202020204" pitchFamily="34" charset="0"/>
            </a:endParaRPr>
          </a:p>
        </p:txBody>
      </p:sp>
      <p:sp>
        <p:nvSpPr>
          <p:cNvPr id="8" name="Text 6"/>
          <p:cNvSpPr/>
          <p:nvPr/>
        </p:nvSpPr>
        <p:spPr>
          <a:xfrm>
            <a:off x="2114907" y="2339578"/>
            <a:ext cx="11746468" cy="346115"/>
          </a:xfrm>
          <a:prstGeom prst="rect">
            <a:avLst/>
          </a:prstGeom>
          <a:noFill/>
          <a:ln/>
        </p:spPr>
        <p:txBody>
          <a:bodyPr wrap="none" lIns="0" tIns="0" rIns="0" bIns="0" rtlCol="0" anchor="t"/>
          <a:lstStyle/>
          <a:p>
            <a:pPr marL="0" indent="0" algn="l">
              <a:lnSpc>
                <a:spcPts val="2700"/>
              </a:lnSpc>
              <a:buNone/>
            </a:pPr>
            <a:r>
              <a:rPr lang="en-US" sz="1700" dirty="0">
                <a:solidFill>
                  <a:srgbClr val="161613"/>
                </a:solidFill>
                <a:latin typeface="Aptos" panose="020B0004020202020204" pitchFamily="34" charset="0"/>
                <a:ea typeface="Inter" pitchFamily="34" charset="-122"/>
                <a:cs typeface="Inter" pitchFamily="34" charset="-120"/>
              </a:rPr>
              <a:t>Acceleration drops below a threshold, indicating sudden downward motion.</a:t>
            </a:r>
            <a:endParaRPr lang="en-US" sz="1700" dirty="0">
              <a:latin typeface="Aptos" panose="020B0004020202020204" pitchFamily="34" charset="0"/>
            </a:endParaRPr>
          </a:p>
        </p:txBody>
      </p:sp>
      <p:sp>
        <p:nvSpPr>
          <p:cNvPr id="9" name="Text 7"/>
          <p:cNvSpPr/>
          <p:nvPr/>
        </p:nvSpPr>
        <p:spPr>
          <a:xfrm>
            <a:off x="2114907" y="2813328"/>
            <a:ext cx="11746468" cy="774263"/>
          </a:xfrm>
          <a:prstGeom prst="rect">
            <a:avLst/>
          </a:prstGeom>
          <a:noFill/>
          <a:ln/>
        </p:spPr>
        <p:txBody>
          <a:bodyPr wrap="square" lIns="0" tIns="0" rIns="0" bIns="0" rtlCol="0" anchor="t"/>
          <a:lstStyle/>
          <a:p>
            <a:pPr marL="342900" indent="-342900" algn="l">
              <a:lnSpc>
                <a:spcPts val="2700"/>
              </a:lnSpc>
              <a:buSzPct val="100000"/>
              <a:buChar char="•"/>
            </a:pPr>
            <a:r>
              <a:rPr lang="en-US" sz="1700" dirty="0">
                <a:solidFill>
                  <a:srgbClr val="161613"/>
                </a:solidFill>
                <a:highlight>
                  <a:srgbClr val="ECEBE8"/>
                </a:highlight>
                <a:latin typeface="Aptos" panose="020B0004020202020204" pitchFamily="34" charset="0"/>
                <a:ea typeface="Consolas" pitchFamily="34" charset="-122"/>
                <a:cs typeface="Consolas" pitchFamily="34" charset="-120"/>
              </a:rPr>
              <a:t>|Az| &lt; FALL_THRESHOLD_LOW</a:t>
            </a:r>
            <a:endParaRPr lang="en-US" sz="1700" dirty="0">
              <a:latin typeface="Aptos" panose="020B0004020202020204" pitchFamily="34" charset="0"/>
            </a:endParaRPr>
          </a:p>
          <a:p>
            <a:pPr marL="342900" indent="-342900" algn="l">
              <a:lnSpc>
                <a:spcPts val="2700"/>
              </a:lnSpc>
              <a:buSzPct val="100000"/>
              <a:buChar char="•"/>
            </a:pPr>
            <a:r>
              <a:rPr lang="en-US" sz="1700" dirty="0">
                <a:solidFill>
                  <a:srgbClr val="161613"/>
                </a:solidFill>
                <a:latin typeface="Aptos" panose="020B0004020202020204" pitchFamily="34" charset="0"/>
                <a:ea typeface="Inter" pitchFamily="34" charset="-122"/>
                <a:cs typeface="Inter" pitchFamily="34" charset="-120"/>
              </a:rPr>
              <a:t>Represents near weightlessness during fall</a:t>
            </a:r>
            <a:endParaRPr lang="en-US" sz="1700" dirty="0">
              <a:latin typeface="Aptos" panose="020B0004020202020204" pitchFamily="34" charset="0"/>
            </a:endParaRPr>
          </a:p>
        </p:txBody>
      </p:sp>
      <p:sp>
        <p:nvSpPr>
          <p:cNvPr id="10" name="Shape 8"/>
          <p:cNvSpPr/>
          <p:nvPr/>
        </p:nvSpPr>
        <p:spPr>
          <a:xfrm>
            <a:off x="1232892" y="4245173"/>
            <a:ext cx="659130" cy="30480"/>
          </a:xfrm>
          <a:prstGeom prst="roundRect">
            <a:avLst>
              <a:gd name="adj" fmla="val 108139"/>
            </a:avLst>
          </a:prstGeom>
          <a:solidFill>
            <a:srgbClr val="D3D1C9"/>
          </a:solidFill>
          <a:ln/>
        </p:spPr>
      </p:sp>
      <p:sp>
        <p:nvSpPr>
          <p:cNvPr id="11" name="Shape 9"/>
          <p:cNvSpPr/>
          <p:nvPr/>
        </p:nvSpPr>
        <p:spPr>
          <a:xfrm>
            <a:off x="769025" y="4013240"/>
            <a:ext cx="494348" cy="494348"/>
          </a:xfrm>
          <a:prstGeom prst="roundRect">
            <a:avLst>
              <a:gd name="adj" fmla="val 6668"/>
            </a:avLst>
          </a:prstGeom>
          <a:solidFill>
            <a:srgbClr val="EDEBE3"/>
          </a:solidFill>
          <a:ln/>
        </p:spPr>
      </p:sp>
      <p:sp>
        <p:nvSpPr>
          <p:cNvPr id="12" name="Text 10"/>
          <p:cNvSpPr/>
          <p:nvPr/>
        </p:nvSpPr>
        <p:spPr>
          <a:xfrm>
            <a:off x="851416" y="4054435"/>
            <a:ext cx="329565" cy="411956"/>
          </a:xfrm>
          <a:prstGeom prst="rect">
            <a:avLst/>
          </a:prstGeom>
          <a:noFill/>
          <a:ln/>
        </p:spPr>
        <p:txBody>
          <a:bodyPr wrap="none" lIns="0" tIns="0" rIns="0" bIns="0" rtlCol="0" anchor="t"/>
          <a:lstStyle/>
          <a:p>
            <a:pPr marL="0" indent="0" algn="ctr">
              <a:lnSpc>
                <a:spcPts val="2550"/>
              </a:lnSpc>
              <a:buNone/>
            </a:pPr>
            <a:r>
              <a:rPr lang="en-US" sz="2550" dirty="0">
                <a:solidFill>
                  <a:srgbClr val="161613"/>
                </a:solidFill>
                <a:latin typeface="Aptos" panose="020B0004020202020204" pitchFamily="34" charset="0"/>
                <a:ea typeface="DM Sans Medium" pitchFamily="34" charset="-122"/>
                <a:cs typeface="DM Sans Medium" pitchFamily="34" charset="-120"/>
              </a:rPr>
              <a:t>2</a:t>
            </a:r>
            <a:endParaRPr lang="en-US" sz="2550" dirty="0">
              <a:latin typeface="Aptos" panose="020B0004020202020204" pitchFamily="34" charset="0"/>
            </a:endParaRPr>
          </a:p>
        </p:txBody>
      </p:sp>
      <p:sp>
        <p:nvSpPr>
          <p:cNvPr id="13" name="Text 11"/>
          <p:cNvSpPr/>
          <p:nvPr/>
        </p:nvSpPr>
        <p:spPr>
          <a:xfrm>
            <a:off x="2114907" y="4088725"/>
            <a:ext cx="2746653" cy="343257"/>
          </a:xfrm>
          <a:prstGeom prst="rect">
            <a:avLst/>
          </a:prstGeom>
          <a:noFill/>
          <a:ln/>
        </p:spPr>
        <p:txBody>
          <a:bodyPr wrap="none" lIns="0" tIns="0" rIns="0" bIns="0" rtlCol="0" anchor="t"/>
          <a:lstStyle/>
          <a:p>
            <a:pPr marL="0" indent="0" algn="l">
              <a:lnSpc>
                <a:spcPts val="2700"/>
              </a:lnSpc>
              <a:buNone/>
            </a:pPr>
            <a:r>
              <a:rPr lang="en-US" sz="2150" dirty="0">
                <a:solidFill>
                  <a:srgbClr val="161613"/>
                </a:solidFill>
                <a:latin typeface="Aptos" panose="020B0004020202020204" pitchFamily="34" charset="0"/>
                <a:ea typeface="DM Sans Medium" pitchFamily="34" charset="-122"/>
                <a:cs typeface="DM Sans Medium" pitchFamily="34" charset="-120"/>
              </a:rPr>
              <a:t>Impact Detection</a:t>
            </a:r>
            <a:endParaRPr lang="en-US" sz="2150" dirty="0">
              <a:latin typeface="Aptos" panose="020B0004020202020204" pitchFamily="34" charset="0"/>
            </a:endParaRPr>
          </a:p>
        </p:txBody>
      </p:sp>
      <p:sp>
        <p:nvSpPr>
          <p:cNvPr id="14" name="Text 12"/>
          <p:cNvSpPr/>
          <p:nvPr/>
        </p:nvSpPr>
        <p:spPr>
          <a:xfrm>
            <a:off x="2114907" y="4559618"/>
            <a:ext cx="11746468" cy="346115"/>
          </a:xfrm>
          <a:prstGeom prst="rect">
            <a:avLst/>
          </a:prstGeom>
          <a:noFill/>
          <a:ln/>
        </p:spPr>
        <p:txBody>
          <a:bodyPr wrap="none" lIns="0" tIns="0" rIns="0" bIns="0" rtlCol="0" anchor="t"/>
          <a:lstStyle/>
          <a:p>
            <a:pPr marL="0" indent="0" algn="l">
              <a:lnSpc>
                <a:spcPts val="2700"/>
              </a:lnSpc>
              <a:buNone/>
            </a:pPr>
            <a:r>
              <a:rPr lang="en-US" sz="1700" dirty="0">
                <a:solidFill>
                  <a:srgbClr val="161613"/>
                </a:solidFill>
                <a:latin typeface="Aptos" panose="020B0004020202020204" pitchFamily="34" charset="0"/>
                <a:ea typeface="Inter" pitchFamily="34" charset="-122"/>
                <a:cs typeface="Inter" pitchFamily="34" charset="-120"/>
              </a:rPr>
              <a:t>Acceleration increases sharply after free fall.</a:t>
            </a:r>
            <a:endParaRPr lang="en-US" sz="1700" dirty="0">
              <a:latin typeface="Aptos" panose="020B0004020202020204" pitchFamily="34" charset="0"/>
            </a:endParaRPr>
          </a:p>
        </p:txBody>
      </p:sp>
      <p:sp>
        <p:nvSpPr>
          <p:cNvPr id="15" name="Text 13"/>
          <p:cNvSpPr/>
          <p:nvPr/>
        </p:nvSpPr>
        <p:spPr>
          <a:xfrm>
            <a:off x="2114907" y="5033367"/>
            <a:ext cx="11746468" cy="774263"/>
          </a:xfrm>
          <a:prstGeom prst="rect">
            <a:avLst/>
          </a:prstGeom>
          <a:noFill/>
          <a:ln/>
        </p:spPr>
        <p:txBody>
          <a:bodyPr wrap="square" lIns="0" tIns="0" rIns="0" bIns="0" rtlCol="0" anchor="t"/>
          <a:lstStyle/>
          <a:p>
            <a:pPr marL="342900" indent="-342900" algn="l">
              <a:lnSpc>
                <a:spcPts val="2700"/>
              </a:lnSpc>
              <a:buSzPct val="100000"/>
              <a:buChar char="•"/>
            </a:pPr>
            <a:r>
              <a:rPr lang="en-US" sz="1700" dirty="0">
                <a:solidFill>
                  <a:srgbClr val="161613"/>
                </a:solidFill>
                <a:highlight>
                  <a:srgbClr val="ECEBE8"/>
                </a:highlight>
                <a:latin typeface="Aptos" panose="020B0004020202020204" pitchFamily="34" charset="0"/>
                <a:ea typeface="Consolas" pitchFamily="34" charset="-122"/>
                <a:cs typeface="Consolas" pitchFamily="34" charset="-120"/>
              </a:rPr>
              <a:t>|Az| &gt; FALL_THRESHOLD_HIGH</a:t>
            </a:r>
            <a:endParaRPr lang="en-US" sz="1700" dirty="0">
              <a:latin typeface="Aptos" panose="020B0004020202020204" pitchFamily="34" charset="0"/>
            </a:endParaRPr>
          </a:p>
          <a:p>
            <a:pPr marL="342900" indent="-342900" algn="l">
              <a:lnSpc>
                <a:spcPts val="2700"/>
              </a:lnSpc>
              <a:buSzPct val="100000"/>
              <a:buChar char="•"/>
            </a:pPr>
            <a:r>
              <a:rPr lang="en-US" sz="1700" dirty="0">
                <a:solidFill>
                  <a:srgbClr val="161613"/>
                </a:solidFill>
                <a:latin typeface="Aptos" panose="020B0004020202020204" pitchFamily="34" charset="0"/>
                <a:ea typeface="Inter" pitchFamily="34" charset="-122"/>
                <a:cs typeface="Inter" pitchFamily="34" charset="-120"/>
              </a:rPr>
              <a:t>Indicates impact with groundds</a:t>
            </a:r>
            <a:endParaRPr lang="en-US" sz="1700" dirty="0">
              <a:latin typeface="Aptos" panose="020B0004020202020204" pitchFamily="34" charset="0"/>
            </a:endParaRPr>
          </a:p>
        </p:txBody>
      </p:sp>
      <p:sp>
        <p:nvSpPr>
          <p:cNvPr id="16" name="Shape 14"/>
          <p:cNvSpPr/>
          <p:nvPr/>
        </p:nvSpPr>
        <p:spPr>
          <a:xfrm>
            <a:off x="1232892" y="6465213"/>
            <a:ext cx="659130" cy="30480"/>
          </a:xfrm>
          <a:prstGeom prst="roundRect">
            <a:avLst>
              <a:gd name="adj" fmla="val 108139"/>
            </a:avLst>
          </a:prstGeom>
          <a:solidFill>
            <a:srgbClr val="D3D1C9"/>
          </a:solidFill>
          <a:ln/>
        </p:spPr>
      </p:sp>
      <p:sp>
        <p:nvSpPr>
          <p:cNvPr id="17" name="Shape 15"/>
          <p:cNvSpPr/>
          <p:nvPr/>
        </p:nvSpPr>
        <p:spPr>
          <a:xfrm>
            <a:off x="769025" y="6233279"/>
            <a:ext cx="494348" cy="494348"/>
          </a:xfrm>
          <a:prstGeom prst="roundRect">
            <a:avLst>
              <a:gd name="adj" fmla="val 6668"/>
            </a:avLst>
          </a:prstGeom>
          <a:solidFill>
            <a:srgbClr val="EDEBE3"/>
          </a:solidFill>
          <a:ln/>
        </p:spPr>
      </p:sp>
      <p:sp>
        <p:nvSpPr>
          <p:cNvPr id="18" name="Text 16"/>
          <p:cNvSpPr/>
          <p:nvPr/>
        </p:nvSpPr>
        <p:spPr>
          <a:xfrm>
            <a:off x="851416" y="6274475"/>
            <a:ext cx="329565" cy="411956"/>
          </a:xfrm>
          <a:prstGeom prst="rect">
            <a:avLst/>
          </a:prstGeom>
          <a:noFill/>
          <a:ln/>
        </p:spPr>
        <p:txBody>
          <a:bodyPr wrap="none" lIns="0" tIns="0" rIns="0" bIns="0" rtlCol="0" anchor="t"/>
          <a:lstStyle/>
          <a:p>
            <a:pPr marL="0" indent="0" algn="ctr">
              <a:lnSpc>
                <a:spcPts val="2550"/>
              </a:lnSpc>
              <a:buNone/>
            </a:pPr>
            <a:r>
              <a:rPr lang="en-US" sz="2550" dirty="0">
                <a:solidFill>
                  <a:srgbClr val="161613"/>
                </a:solidFill>
                <a:latin typeface="Aptos" panose="020B0004020202020204" pitchFamily="34" charset="0"/>
                <a:ea typeface="DM Sans Medium" pitchFamily="34" charset="-122"/>
                <a:cs typeface="DM Sans Medium" pitchFamily="34" charset="-120"/>
              </a:rPr>
              <a:t>3</a:t>
            </a:r>
            <a:endParaRPr lang="en-US" sz="2550" dirty="0">
              <a:latin typeface="Aptos" panose="020B0004020202020204" pitchFamily="34" charset="0"/>
            </a:endParaRPr>
          </a:p>
        </p:txBody>
      </p:sp>
      <p:sp>
        <p:nvSpPr>
          <p:cNvPr id="19" name="Text 17"/>
          <p:cNvSpPr/>
          <p:nvPr/>
        </p:nvSpPr>
        <p:spPr>
          <a:xfrm>
            <a:off x="2114907" y="6304597"/>
            <a:ext cx="11746468" cy="346115"/>
          </a:xfrm>
          <a:prstGeom prst="rect">
            <a:avLst/>
          </a:prstGeom>
          <a:noFill/>
          <a:ln/>
        </p:spPr>
        <p:txBody>
          <a:bodyPr wrap="none" lIns="0" tIns="0" rIns="0" bIns="0" rtlCol="0" anchor="t"/>
          <a:lstStyle/>
          <a:p>
            <a:pPr marL="0" indent="0" algn="l">
              <a:lnSpc>
                <a:spcPts val="2700"/>
              </a:lnSpc>
              <a:buNone/>
            </a:pPr>
            <a:r>
              <a:rPr lang="en-US" sz="1700" dirty="0">
                <a:solidFill>
                  <a:srgbClr val="161613"/>
                </a:solidFill>
                <a:latin typeface="Aptos" panose="020B0004020202020204" pitchFamily="34" charset="0"/>
                <a:ea typeface="Inter" pitchFamily="34" charset="-122"/>
                <a:cs typeface="Inter" pitchFamily="34" charset="-120"/>
              </a:rPr>
              <a:t>Checks if there is no significant movement after impact.</a:t>
            </a:r>
            <a:endParaRPr lang="en-US" sz="1700" dirty="0">
              <a:latin typeface="Aptos" panose="020B0004020202020204" pitchFamily="34" charset="0"/>
            </a:endParaRPr>
          </a:p>
        </p:txBody>
      </p:sp>
      <p:sp>
        <p:nvSpPr>
          <p:cNvPr id="20" name="Text 18"/>
          <p:cNvSpPr/>
          <p:nvPr/>
        </p:nvSpPr>
        <p:spPr>
          <a:xfrm>
            <a:off x="2114907" y="6778347"/>
            <a:ext cx="11746468" cy="774263"/>
          </a:xfrm>
          <a:prstGeom prst="rect">
            <a:avLst/>
          </a:prstGeom>
          <a:noFill/>
          <a:ln/>
        </p:spPr>
        <p:txBody>
          <a:bodyPr wrap="square" lIns="0" tIns="0" rIns="0" bIns="0" rtlCol="0" anchor="t"/>
          <a:lstStyle/>
          <a:p>
            <a:pPr marL="342900" indent="-342900" algn="l">
              <a:lnSpc>
                <a:spcPts val="2700"/>
              </a:lnSpc>
              <a:buSzPct val="100000"/>
              <a:buChar char="•"/>
            </a:pPr>
            <a:r>
              <a:rPr lang="en-US" sz="1700" dirty="0">
                <a:solidFill>
                  <a:srgbClr val="161613"/>
                </a:solidFill>
                <a:latin typeface="Aptos" panose="020B0004020202020204" pitchFamily="34" charset="0"/>
                <a:ea typeface="Inter" pitchFamily="34" charset="-122"/>
                <a:cs typeface="Inter" pitchFamily="34" charset="-120"/>
              </a:rPr>
              <a:t>Time delay after impact (</a:t>
            </a:r>
            <a:r>
              <a:rPr lang="en-US" sz="1700" dirty="0">
                <a:solidFill>
                  <a:srgbClr val="161613"/>
                </a:solidFill>
                <a:highlight>
                  <a:srgbClr val="ECEBE8"/>
                </a:highlight>
                <a:latin typeface="Aptos" panose="020B0004020202020204" pitchFamily="34" charset="0"/>
                <a:ea typeface="Consolas" pitchFamily="34" charset="-122"/>
                <a:cs typeface="Consolas" pitchFamily="34" charset="-120"/>
              </a:rPr>
              <a:t>NO_MOVEMENT_TIME</a:t>
            </a:r>
            <a:r>
              <a:rPr lang="en-US" sz="1700" dirty="0">
                <a:solidFill>
                  <a:srgbClr val="161613"/>
                </a:solidFill>
                <a:latin typeface="Aptos" panose="020B0004020202020204" pitchFamily="34" charset="0"/>
                <a:ea typeface="Inter" pitchFamily="34" charset="-122"/>
                <a:cs typeface="Inter" pitchFamily="34" charset="-120"/>
              </a:rPr>
              <a:t>)</a:t>
            </a:r>
            <a:endParaRPr lang="en-US" sz="1700" dirty="0">
              <a:latin typeface="Aptos" panose="020B0004020202020204" pitchFamily="34" charset="0"/>
            </a:endParaRPr>
          </a:p>
          <a:p>
            <a:pPr marL="342900" indent="-342900" algn="l">
              <a:lnSpc>
                <a:spcPts val="2700"/>
              </a:lnSpc>
              <a:buSzPct val="100000"/>
              <a:buChar char="•"/>
            </a:pPr>
            <a:r>
              <a:rPr lang="en-US" sz="1700" dirty="0">
                <a:solidFill>
                  <a:srgbClr val="161613"/>
                </a:solidFill>
                <a:latin typeface="Aptos" panose="020B0004020202020204" pitchFamily="34" charset="0"/>
                <a:ea typeface="Inter" pitchFamily="34" charset="-122"/>
                <a:cs typeface="Inter" pitchFamily="34" charset="-120"/>
              </a:rPr>
              <a:t>Confirms actual fall condition</a:t>
            </a:r>
            <a:endParaRPr lang="en-US" sz="1700" dirty="0">
              <a:latin typeface="Aptos" panose="020B0004020202020204" pitchFamily="34"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showMasterSp="0">
  <p:cSld name="Slide 9">
    <p:spTree>
      <p:nvGrpSpPr>
        <p:cNvPr id="1" name=""/>
        <p:cNvGrpSpPr/>
        <p:nvPr/>
      </p:nvGrpSpPr>
      <p:grpSpPr>
        <a:xfrm>
          <a:off x="0" y="0"/>
          <a:ext cx="0" cy="0"/>
          <a:chOff x="0" y="0"/>
          <a:chExt cx="0" cy="0"/>
        </a:xfrm>
      </p:grpSpPr>
      <p:sp>
        <p:nvSpPr>
          <p:cNvPr id="2" name="Text 0"/>
          <p:cNvSpPr/>
          <p:nvPr/>
        </p:nvSpPr>
        <p:spPr>
          <a:xfrm>
            <a:off x="793790" y="1234559"/>
            <a:ext cx="7293054" cy="708779"/>
          </a:xfrm>
          <a:prstGeom prst="rect">
            <a:avLst/>
          </a:prstGeom>
          <a:noFill/>
          <a:ln/>
        </p:spPr>
        <p:txBody>
          <a:bodyPr wrap="none" lIns="0" tIns="0" rIns="0" bIns="0" rtlCol="0" anchor="t"/>
          <a:lstStyle/>
          <a:p>
            <a:pPr marL="0" indent="0" algn="l">
              <a:lnSpc>
                <a:spcPts val="5550"/>
              </a:lnSpc>
              <a:buNone/>
            </a:pPr>
            <a:r>
              <a:rPr lang="en-US" sz="4450" dirty="0">
                <a:solidFill>
                  <a:srgbClr val="161613"/>
                </a:solidFill>
                <a:latin typeface="Aptos" panose="020B0004020202020204" pitchFamily="34" charset="0"/>
                <a:ea typeface="DM Sans Medium" pitchFamily="34" charset="-122"/>
                <a:cs typeface="DM Sans Medium" pitchFamily="34" charset="-120"/>
              </a:rPr>
              <a:t>Working Principle &amp; Results</a:t>
            </a:r>
            <a:endParaRPr lang="en-US" sz="4450" dirty="0">
              <a:latin typeface="Aptos" panose="020B0004020202020204" pitchFamily="34" charset="0"/>
            </a:endParaRPr>
          </a:p>
        </p:txBody>
      </p:sp>
      <p:sp>
        <p:nvSpPr>
          <p:cNvPr id="3" name="Text 1"/>
          <p:cNvSpPr/>
          <p:nvPr/>
        </p:nvSpPr>
        <p:spPr>
          <a:xfrm>
            <a:off x="793790" y="2510314"/>
            <a:ext cx="3402330" cy="425291"/>
          </a:xfrm>
          <a:prstGeom prst="rect">
            <a:avLst/>
          </a:prstGeom>
          <a:noFill/>
          <a:ln/>
        </p:spPr>
        <p:txBody>
          <a:bodyPr wrap="none" lIns="0" tIns="0" rIns="0" bIns="0" rtlCol="0" anchor="t"/>
          <a:lstStyle/>
          <a:p>
            <a:pPr marL="0" indent="0" algn="l">
              <a:lnSpc>
                <a:spcPts val="3300"/>
              </a:lnSpc>
              <a:buNone/>
            </a:pPr>
            <a:r>
              <a:rPr lang="en-US" sz="2650" dirty="0">
                <a:solidFill>
                  <a:srgbClr val="161613"/>
                </a:solidFill>
                <a:latin typeface="Aptos" panose="020B0004020202020204" pitchFamily="34" charset="0"/>
                <a:ea typeface="DM Sans Medium" pitchFamily="34" charset="-122"/>
                <a:cs typeface="DM Sans Medium" pitchFamily="34" charset="-120"/>
              </a:rPr>
              <a:t>System Operation</a:t>
            </a:r>
            <a:endParaRPr lang="en-US" sz="2650" dirty="0">
              <a:latin typeface="Aptos" panose="020B0004020202020204" pitchFamily="34" charset="0"/>
            </a:endParaRPr>
          </a:p>
        </p:txBody>
      </p:sp>
      <p:sp>
        <p:nvSpPr>
          <p:cNvPr id="4" name="Text 2"/>
          <p:cNvSpPr/>
          <p:nvPr/>
        </p:nvSpPr>
        <p:spPr>
          <a:xfrm>
            <a:off x="793790" y="3162419"/>
            <a:ext cx="6244709" cy="362903"/>
          </a:xfrm>
          <a:prstGeom prst="rect">
            <a:avLst/>
          </a:prstGeom>
          <a:noFill/>
          <a:ln/>
        </p:spPr>
        <p:txBody>
          <a:bodyPr wrap="none" lIns="0" tIns="0" rIns="0" bIns="0" rtlCol="0" anchor="t"/>
          <a:lstStyle/>
          <a:p>
            <a:pPr marL="0" indent="0" algn="l">
              <a:lnSpc>
                <a:spcPts val="2850"/>
              </a:lnSpc>
              <a:buNone/>
            </a:pPr>
            <a:r>
              <a:rPr lang="en-US" sz="1750" dirty="0">
                <a:solidFill>
                  <a:srgbClr val="161613"/>
                </a:solidFill>
                <a:latin typeface="Aptos" panose="020B0004020202020204" pitchFamily="34" charset="0"/>
                <a:ea typeface="Inter" pitchFamily="34" charset="-122"/>
                <a:cs typeface="Inter" pitchFamily="34" charset="-120"/>
              </a:rPr>
              <a:t>When the system is powered ON:</a:t>
            </a:r>
            <a:endParaRPr lang="en-US" sz="1750" dirty="0">
              <a:latin typeface="Aptos" panose="020B0004020202020204" pitchFamily="34" charset="0"/>
            </a:endParaRPr>
          </a:p>
        </p:txBody>
      </p:sp>
      <p:sp>
        <p:nvSpPr>
          <p:cNvPr id="5" name="Text 3"/>
          <p:cNvSpPr/>
          <p:nvPr/>
        </p:nvSpPr>
        <p:spPr>
          <a:xfrm>
            <a:off x="793790" y="3729395"/>
            <a:ext cx="6244709" cy="213169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161613"/>
                </a:solidFill>
                <a:latin typeface="Aptos" panose="020B0004020202020204" pitchFamily="34" charset="0"/>
                <a:ea typeface="Inter" pitchFamily="34" charset="-122"/>
                <a:cs typeface="Inter" pitchFamily="34" charset="-120"/>
              </a:rPr>
              <a:t>FreeRTOS scheduler initializes and runs all tasks</a:t>
            </a:r>
            <a:endParaRPr lang="en-US" sz="1750" dirty="0">
              <a:latin typeface="Aptos" panose="020B0004020202020204" pitchFamily="34" charset="0"/>
            </a:endParaRPr>
          </a:p>
          <a:p>
            <a:pPr marL="342900" indent="-342900" algn="l">
              <a:lnSpc>
                <a:spcPts val="2850"/>
              </a:lnSpc>
              <a:buSzPct val="100000"/>
              <a:buChar char="•"/>
            </a:pPr>
            <a:r>
              <a:rPr lang="en-US" sz="1750" dirty="0">
                <a:solidFill>
                  <a:srgbClr val="161613"/>
                </a:solidFill>
                <a:latin typeface="Aptos" panose="020B0004020202020204" pitchFamily="34" charset="0"/>
                <a:ea typeface="Inter" pitchFamily="34" charset="-122"/>
                <a:cs typeface="Inter" pitchFamily="34" charset="-120"/>
              </a:rPr>
              <a:t>MAX30100 task continuously reads HR &amp; SpO₂ data</a:t>
            </a:r>
            <a:endParaRPr lang="en-US" sz="1750" dirty="0">
              <a:latin typeface="Aptos" panose="020B0004020202020204" pitchFamily="34" charset="0"/>
            </a:endParaRPr>
          </a:p>
          <a:p>
            <a:pPr marL="342900" indent="-342900" algn="l">
              <a:lnSpc>
                <a:spcPts val="2850"/>
              </a:lnSpc>
              <a:buSzPct val="100000"/>
              <a:buChar char="•"/>
            </a:pPr>
            <a:r>
              <a:rPr lang="en-US" sz="1750" dirty="0">
                <a:solidFill>
                  <a:srgbClr val="161613"/>
                </a:solidFill>
                <a:latin typeface="Aptos" panose="020B0004020202020204" pitchFamily="34" charset="0"/>
                <a:ea typeface="Inter" pitchFamily="34" charset="-122"/>
                <a:cs typeface="Inter" pitchFamily="34" charset="-120"/>
              </a:rPr>
              <a:t>MPU6050 task monitors acceleration for fall detection</a:t>
            </a:r>
            <a:endParaRPr lang="en-US" sz="1750" dirty="0">
              <a:latin typeface="Aptos" panose="020B0004020202020204" pitchFamily="34" charset="0"/>
            </a:endParaRPr>
          </a:p>
          <a:p>
            <a:pPr marL="342900" indent="-342900" algn="l">
              <a:lnSpc>
                <a:spcPts val="2850"/>
              </a:lnSpc>
              <a:buSzPct val="100000"/>
              <a:buChar char="•"/>
            </a:pPr>
            <a:r>
              <a:rPr lang="en-US" sz="1750" dirty="0">
                <a:solidFill>
                  <a:srgbClr val="161613"/>
                </a:solidFill>
                <a:latin typeface="Aptos" panose="020B0004020202020204" pitchFamily="34" charset="0"/>
                <a:ea typeface="Inter" pitchFamily="34" charset="-122"/>
                <a:cs typeface="Inter" pitchFamily="34" charset="-120"/>
              </a:rPr>
              <a:t>Touch interrupt controls system ON/OFF</a:t>
            </a:r>
            <a:endParaRPr lang="en-US" sz="1750" dirty="0">
              <a:latin typeface="Aptos" panose="020B0004020202020204" pitchFamily="34" charset="0"/>
            </a:endParaRPr>
          </a:p>
          <a:p>
            <a:pPr marL="342900" indent="-342900" algn="l">
              <a:lnSpc>
                <a:spcPts val="2850"/>
              </a:lnSpc>
              <a:buSzPct val="100000"/>
              <a:buChar char="•"/>
            </a:pPr>
            <a:r>
              <a:rPr lang="en-US" sz="1750" dirty="0">
                <a:solidFill>
                  <a:srgbClr val="161613"/>
                </a:solidFill>
                <a:latin typeface="Aptos" panose="020B0004020202020204" pitchFamily="34" charset="0"/>
                <a:ea typeface="Inter" pitchFamily="34" charset="-122"/>
                <a:cs typeface="Inter" pitchFamily="34" charset="-120"/>
              </a:rPr>
              <a:t>Display task updates LCD with real-time values</a:t>
            </a:r>
            <a:endParaRPr lang="en-US" sz="1750" dirty="0">
              <a:latin typeface="Aptos" panose="020B0004020202020204" pitchFamily="34" charset="0"/>
            </a:endParaRPr>
          </a:p>
        </p:txBody>
      </p:sp>
      <p:sp>
        <p:nvSpPr>
          <p:cNvPr id="6" name="Text 4"/>
          <p:cNvSpPr/>
          <p:nvPr/>
        </p:nvSpPr>
        <p:spPr>
          <a:xfrm>
            <a:off x="793790" y="6065163"/>
            <a:ext cx="6244709" cy="725805"/>
          </a:xfrm>
          <a:prstGeom prst="rect">
            <a:avLst/>
          </a:prstGeom>
          <a:noFill/>
          <a:ln/>
        </p:spPr>
        <p:txBody>
          <a:bodyPr wrap="square" lIns="0" tIns="0" rIns="0" bIns="0" rtlCol="0" anchor="t"/>
          <a:lstStyle/>
          <a:p>
            <a:pPr marL="0" indent="0" algn="l">
              <a:lnSpc>
                <a:spcPts val="2850"/>
              </a:lnSpc>
              <a:buNone/>
            </a:pPr>
            <a:r>
              <a:rPr lang="en-US" sz="1750" dirty="0">
                <a:solidFill>
                  <a:srgbClr val="161613"/>
                </a:solidFill>
                <a:latin typeface="Aptos" panose="020B0004020202020204" pitchFamily="34" charset="0"/>
                <a:ea typeface="Inter" pitchFamily="34" charset="-122"/>
                <a:cs typeface="Inter" pitchFamily="34" charset="-120"/>
              </a:rPr>
              <a:t>If a fall or abnormal condition is detected, the system immediately updates the display with an alert.</a:t>
            </a:r>
            <a:endParaRPr lang="en-US" sz="1750" dirty="0">
              <a:latin typeface="Aptos" panose="020B0004020202020204" pitchFamily="34" charset="0"/>
            </a:endParaRPr>
          </a:p>
        </p:txBody>
      </p:sp>
      <p:sp>
        <p:nvSpPr>
          <p:cNvPr id="7" name="Text 5"/>
          <p:cNvSpPr/>
          <p:nvPr/>
        </p:nvSpPr>
        <p:spPr>
          <a:xfrm>
            <a:off x="7599521" y="2510314"/>
            <a:ext cx="4285417" cy="425291"/>
          </a:xfrm>
          <a:prstGeom prst="rect">
            <a:avLst/>
          </a:prstGeom>
          <a:noFill/>
          <a:ln/>
        </p:spPr>
        <p:txBody>
          <a:bodyPr wrap="none" lIns="0" tIns="0" rIns="0" bIns="0" rtlCol="0" anchor="t"/>
          <a:lstStyle/>
          <a:p>
            <a:pPr marL="0" indent="0" algn="l">
              <a:lnSpc>
                <a:spcPts val="3300"/>
              </a:lnSpc>
              <a:buNone/>
            </a:pPr>
            <a:r>
              <a:rPr lang="en-US" sz="2650" dirty="0">
                <a:solidFill>
                  <a:srgbClr val="161613"/>
                </a:solidFill>
                <a:latin typeface="Aptos" panose="020B0004020202020204" pitchFamily="34" charset="0"/>
                <a:ea typeface="DM Sans Medium" pitchFamily="34" charset="-122"/>
                <a:cs typeface="DM Sans Medium" pitchFamily="34" charset="-120"/>
              </a:rPr>
              <a:t>Performance Observations</a:t>
            </a:r>
            <a:endParaRPr lang="en-US" sz="2650" dirty="0">
              <a:latin typeface="Aptos" panose="020B0004020202020204" pitchFamily="34" charset="0"/>
            </a:endParaRPr>
          </a:p>
        </p:txBody>
      </p:sp>
      <p:sp>
        <p:nvSpPr>
          <p:cNvPr id="8" name="Text 6"/>
          <p:cNvSpPr/>
          <p:nvPr/>
        </p:nvSpPr>
        <p:spPr>
          <a:xfrm>
            <a:off x="7599521" y="3162419"/>
            <a:ext cx="6244709" cy="2131695"/>
          </a:xfrm>
          <a:prstGeom prst="rect">
            <a:avLst/>
          </a:prstGeom>
          <a:noFill/>
          <a:ln/>
        </p:spPr>
        <p:txBody>
          <a:bodyPr wrap="square" lIns="0" tIns="0" rIns="0" bIns="0" rtlCol="0" anchor="t"/>
          <a:lstStyle/>
          <a:p>
            <a:pPr marL="342900" indent="-342900" algn="l">
              <a:lnSpc>
                <a:spcPts val="2850"/>
              </a:lnSpc>
              <a:buSzPct val="100000"/>
              <a:buChar char="•"/>
            </a:pPr>
            <a:r>
              <a:rPr lang="en-US" sz="1750" dirty="0">
                <a:solidFill>
                  <a:srgbClr val="161613"/>
                </a:solidFill>
                <a:latin typeface="Aptos" panose="020B0004020202020204" pitchFamily="34" charset="0"/>
                <a:ea typeface="Inter" pitchFamily="34" charset="-122"/>
                <a:cs typeface="Inter" pitchFamily="34" charset="-120"/>
              </a:rPr>
              <a:t>Real-time heart rate and SpO₂ values displayed</a:t>
            </a:r>
            <a:endParaRPr lang="en-US" sz="1750" dirty="0">
              <a:latin typeface="Aptos" panose="020B0004020202020204" pitchFamily="34" charset="0"/>
            </a:endParaRPr>
          </a:p>
          <a:p>
            <a:pPr marL="342900" indent="-342900" algn="l">
              <a:lnSpc>
                <a:spcPts val="2850"/>
              </a:lnSpc>
              <a:buSzPct val="100000"/>
              <a:buChar char="•"/>
            </a:pPr>
            <a:r>
              <a:rPr lang="en-US" sz="1750" dirty="0">
                <a:solidFill>
                  <a:srgbClr val="161613"/>
                </a:solidFill>
                <a:latin typeface="Aptos" panose="020B0004020202020204" pitchFamily="34" charset="0"/>
                <a:ea typeface="Inter" pitchFamily="34" charset="-122"/>
                <a:cs typeface="Inter" pitchFamily="34" charset="-120"/>
              </a:rPr>
              <a:t>Stable readings achieved after signal filtering</a:t>
            </a:r>
            <a:endParaRPr lang="en-US" sz="1750" dirty="0">
              <a:latin typeface="Aptos" panose="020B0004020202020204" pitchFamily="34" charset="0"/>
            </a:endParaRPr>
          </a:p>
          <a:p>
            <a:pPr marL="342900" indent="-342900" algn="l">
              <a:lnSpc>
                <a:spcPts val="2850"/>
              </a:lnSpc>
              <a:buSzPct val="100000"/>
              <a:buChar char="•"/>
            </a:pPr>
            <a:r>
              <a:rPr lang="en-US" sz="1750" dirty="0">
                <a:solidFill>
                  <a:srgbClr val="161613"/>
                </a:solidFill>
                <a:latin typeface="Aptos" panose="020B0004020202020204" pitchFamily="34" charset="0"/>
                <a:ea typeface="Inter" pitchFamily="34" charset="-122"/>
                <a:cs typeface="Inter" pitchFamily="34" charset="-120"/>
              </a:rPr>
              <a:t>Touch input responds instantly using EXTI interrupt</a:t>
            </a:r>
            <a:endParaRPr lang="en-US" sz="1750" dirty="0">
              <a:latin typeface="Aptos" panose="020B0004020202020204" pitchFamily="34" charset="0"/>
            </a:endParaRPr>
          </a:p>
          <a:p>
            <a:pPr marL="342900" indent="-342900" algn="l">
              <a:lnSpc>
                <a:spcPts val="2850"/>
              </a:lnSpc>
              <a:buSzPct val="100000"/>
              <a:buChar char="•"/>
            </a:pPr>
            <a:r>
              <a:rPr lang="en-US" sz="1750" dirty="0">
                <a:solidFill>
                  <a:srgbClr val="161613"/>
                </a:solidFill>
                <a:latin typeface="Aptos" panose="020B0004020202020204" pitchFamily="34" charset="0"/>
                <a:ea typeface="Inter" pitchFamily="34" charset="-122"/>
                <a:cs typeface="Inter" pitchFamily="34" charset="-120"/>
              </a:rPr>
              <a:t>Fall detection triggered successfully based on motion</a:t>
            </a:r>
            <a:endParaRPr lang="en-US" sz="1750" dirty="0">
              <a:latin typeface="Aptos" panose="020B0004020202020204" pitchFamily="34" charset="0"/>
            </a:endParaRPr>
          </a:p>
          <a:p>
            <a:pPr marL="342900" indent="-342900" algn="l">
              <a:lnSpc>
                <a:spcPts val="2850"/>
              </a:lnSpc>
              <a:buSzPct val="100000"/>
              <a:buChar char="•"/>
            </a:pPr>
            <a:r>
              <a:rPr lang="en-US" sz="1750" dirty="0">
                <a:solidFill>
                  <a:srgbClr val="161613"/>
                </a:solidFill>
                <a:latin typeface="Aptos" panose="020B0004020202020204" pitchFamily="34" charset="0"/>
                <a:ea typeface="Inter" pitchFamily="34" charset="-122"/>
                <a:cs typeface="Inter" pitchFamily="34" charset="-120"/>
              </a:rPr>
              <a:t>System operates smoothly with multitasking</a:t>
            </a:r>
            <a:endParaRPr lang="en-US" sz="1750" dirty="0">
              <a:latin typeface="Aptos" panose="020B0004020202020204" pitchFamily="34"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showMasterSp="0">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AD92B1C-A7E7-52EE-9CD8-EDC3B2452D4C}"/>
              </a:ext>
            </a:extLst>
          </p:cNvPr>
          <p:cNvSpPr txBox="1"/>
          <p:nvPr/>
        </p:nvSpPr>
        <p:spPr>
          <a:xfrm>
            <a:off x="5523806" y="3505770"/>
            <a:ext cx="8055033" cy="707886"/>
          </a:xfrm>
          <a:prstGeom prst="rect">
            <a:avLst/>
          </a:prstGeom>
          <a:noFill/>
        </p:spPr>
        <p:txBody>
          <a:bodyPr wrap="square" rtlCol="0">
            <a:spAutoFit/>
          </a:bodyPr>
          <a:lstStyle/>
          <a:p>
            <a:r>
              <a:rPr lang="en-GB" sz="4000" b="1" dirty="0">
                <a:latin typeface="Aptos" panose="020B0004020202020204" pitchFamily="34" charset="0"/>
              </a:rPr>
              <a:t>THANK YOU</a:t>
            </a:r>
            <a:endParaRPr lang="en-IN" sz="4000" b="1" dirty="0">
              <a:latin typeface="Aptos" panose="020B0004020202020204" pitchFamily="34" charset="0"/>
            </a:endParaRPr>
          </a:p>
        </p:txBody>
      </p:sp>
    </p:spTree>
    <p:extLst>
      <p:ext uri="{BB962C8B-B14F-4D97-AF65-F5344CB8AC3E}">
        <p14:creationId xmlns:p14="http://schemas.microsoft.com/office/powerpoint/2010/main" val="2683378778"/>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3</TotalTime>
  <Words>957</Words>
  <Application>Microsoft Office PowerPoint</Application>
  <PresentationFormat>Custom</PresentationFormat>
  <Paragraphs>126</Paragraphs>
  <Slides>10</Slides>
  <Notes>9</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Aptos</vt:lpstr>
      <vt:lpstr>Inter</vt:lpstr>
      <vt:lpstr>DM Sans Medium</vt:lpstr>
      <vt:lpstr>Arial</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Admin</dc:creator>
  <cp:lastModifiedBy>Himani Deore</cp:lastModifiedBy>
  <cp:revision>3</cp:revision>
  <dcterms:created xsi:type="dcterms:W3CDTF">2026-04-22T07:59:20Z</dcterms:created>
  <dcterms:modified xsi:type="dcterms:W3CDTF">2026-04-22T08:03:22Z</dcterms:modified>
</cp:coreProperties>
</file>